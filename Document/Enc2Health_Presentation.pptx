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s/_rels/slide12.xml.rels" ContentType="application/vnd.openxmlformats-package.relationships+xml"/>
  <Override PartName="/ppt/slides/_rels/slide13.xml.rels" ContentType="application/vnd.openxmlformats-package.relationships+xml"/>
  <Override PartName="/ppt/slides/_rels/slide14.xml.rels" ContentType="application/vnd.openxmlformats-package.relationships+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10.xml.rels" ContentType="application/vnd.openxmlformats-package.relationships+xml"/>
  <Override PartName="/ppt/slides/_rels/slide8.xml.rels" ContentType="application/vnd.openxmlformats-package.relationships+xml"/>
  <Override PartName="/ppt/slides/_rels/slide11.xml.rels" ContentType="application/vnd.openxmlformats-package.relationships+xml"/>
  <Override PartName="/ppt/slides/_rels/slide9.xml.rels" ContentType="application/vnd.openxmlformats-package.relationships+xml"/>
  <Override PartName="/ppt/slides/slide13.xml" ContentType="application/vnd.openxmlformats-officedocument.presentationml.slide+xml"/>
  <Override PartName="/ppt/slides/slide14.xml" ContentType="application/vnd.openxmlformats-officedocument.presentationml.slid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_rels/presentation.xml.rels" ContentType="application/vnd.openxmlformats-package.relationships+xml"/>
  <Override PartName="/ppt/media/image1.png" ContentType="image/pn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Lst>
  <p:sldSz cx="12188825" cy="685800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5" name="PlaceHolder 2"/>
          <p:cNvSpPr>
            <a:spLocks noGrp="1"/>
          </p:cNvSpPr>
          <p:nvPr>
            <p:ph type="subTitle"/>
          </p:nvPr>
        </p:nvSpPr>
        <p:spPr>
          <a:xfrm>
            <a:off x="609120" y="1604520"/>
            <a:ext cx="10969560" cy="39772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01A4C105-91D3-41BB-84BB-906C570286F1}" type="slidenum">
              <a:t>&lt;#&gt;</a:t>
            </a:fld>
          </a:p>
        </p:txBody>
      </p:sp>
      <p:sp>
        <p:nvSpPr>
          <p:cNvPr id="6" name="PlaceHolder 5"/>
          <p:cNvSpPr>
            <a:spLocks noGrp="1"/>
          </p:cNvSpPr>
          <p:nvPr>
            <p:ph type="dt" idx="1"/>
          </p:nvPr>
        </p:nvSpPr>
        <p:spPr/>
        <p:txBody>
          <a:bodyPr/>
          <a:p>
            <a:r>
              <a:rPr lang="en-US"/>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65E3D07E-EAD8-49BB-9775-B01DEEC86A46}" type="slidenum">
              <a:t>&lt;#&gt;</a:t>
            </a:fld>
          </a:p>
        </p:txBody>
      </p:sp>
      <p:sp>
        <p:nvSpPr>
          <p:cNvPr id="4" name="PlaceHolder 3"/>
          <p:cNvSpPr>
            <a:spLocks noGrp="1"/>
          </p:cNvSpPr>
          <p:nvPr>
            <p:ph type="dt" idx="4"/>
          </p:nvPr>
        </p:nvSpPr>
        <p:spPr/>
        <p:txBody>
          <a:bodyPr/>
          <a:p>
            <a:r>
              <a:rPr lang="en-US"/>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D546128B-54CF-4F56-8E91-F32A17EF82FE}" type="slidenum">
              <a:t>&lt;#&gt;</a:t>
            </a:fld>
          </a:p>
        </p:txBody>
      </p:sp>
      <p:sp>
        <p:nvSpPr>
          <p:cNvPr id="4" name="PlaceHolder 3"/>
          <p:cNvSpPr>
            <a:spLocks noGrp="1"/>
          </p:cNvSpPr>
          <p:nvPr>
            <p:ph type="dt" idx="7"/>
          </p:nvPr>
        </p:nvSpPr>
        <p:spPr/>
        <p:txBody>
          <a:bodyPr/>
          <a:p>
            <a:r>
              <a:rPr lang="en-US"/>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22" name="PlaceHolder 2"/>
          <p:cNvSpPr>
            <a:spLocks noGrp="1"/>
          </p:cNvSpPr>
          <p:nvPr>
            <p:ph/>
          </p:nvPr>
        </p:nvSpPr>
        <p:spPr>
          <a:xfrm>
            <a:off x="609120" y="1604520"/>
            <a:ext cx="1096956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4" name="PlaceHolder 3"/>
          <p:cNvSpPr>
            <a:spLocks noGrp="1"/>
          </p:cNvSpPr>
          <p:nvPr>
            <p:ph type="ftr" idx="11"/>
          </p:nvPr>
        </p:nvSpPr>
        <p:spPr/>
        <p:txBody>
          <a:bodyPr/>
          <a:p>
            <a:r>
              <a:t>Footer</a:t>
            </a:r>
          </a:p>
        </p:txBody>
      </p:sp>
      <p:sp>
        <p:nvSpPr>
          <p:cNvPr id="5" name="PlaceHolder 4"/>
          <p:cNvSpPr>
            <a:spLocks noGrp="1"/>
          </p:cNvSpPr>
          <p:nvPr>
            <p:ph type="sldNum" idx="12"/>
          </p:nvPr>
        </p:nvSpPr>
        <p:spPr/>
        <p:txBody>
          <a:bodyPr/>
          <a:p>
            <a:fld id="{769C9B2F-19EC-4EEE-A6FE-65DE8B4256AF}" type="slidenum">
              <a:t>&lt;#&gt;</a:t>
            </a:fld>
          </a:p>
        </p:txBody>
      </p:sp>
      <p:sp>
        <p:nvSpPr>
          <p:cNvPr id="6" name="PlaceHolder 5"/>
          <p:cNvSpPr>
            <a:spLocks noGrp="1"/>
          </p:cNvSpPr>
          <p:nvPr>
            <p:ph type="dt" idx="10"/>
          </p:nvPr>
        </p:nvSpPr>
        <p:spPr/>
        <p:txBody>
          <a:bodyPr/>
          <a:p>
            <a:r>
              <a:rPr lang="en-US"/>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p>
            <a:r>
              <a:t>Footer</a:t>
            </a:r>
          </a:p>
        </p:txBody>
      </p:sp>
      <p:sp>
        <p:nvSpPr>
          <p:cNvPr id="3" name="PlaceHolder 2"/>
          <p:cNvSpPr>
            <a:spLocks noGrp="1"/>
          </p:cNvSpPr>
          <p:nvPr>
            <p:ph type="sldNum" idx="15"/>
          </p:nvPr>
        </p:nvSpPr>
        <p:spPr/>
        <p:txBody>
          <a:bodyPr/>
          <a:p>
            <a:fld id="{3DFB05A8-E618-4310-AF4E-E57901DFC97D}" type="slidenum">
              <a:t>&lt;#&gt;</a:t>
            </a:fld>
          </a:p>
        </p:txBody>
      </p:sp>
      <p:sp>
        <p:nvSpPr>
          <p:cNvPr id="4" name="PlaceHolder 3"/>
          <p:cNvSpPr>
            <a:spLocks noGrp="1"/>
          </p:cNvSpPr>
          <p:nvPr>
            <p:ph type="dt" idx="13"/>
          </p:nvPr>
        </p:nvSpPr>
        <p:spPr/>
        <p:txBody>
          <a:bodyPr/>
          <a:p>
            <a:r>
              <a:rPr lang="en-US"/>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5" name="PlaceHolder 2"/>
          <p:cNvSpPr>
            <a:spLocks noGrp="1"/>
          </p:cNvSpPr>
          <p:nvPr>
            <p:ph/>
          </p:nvPr>
        </p:nvSpPr>
        <p:spPr>
          <a:xfrm>
            <a:off x="609120" y="1604520"/>
            <a:ext cx="53528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36" name="PlaceHolder 3"/>
          <p:cNvSpPr>
            <a:spLocks noGrp="1"/>
          </p:cNvSpPr>
          <p:nvPr>
            <p:ph/>
          </p:nvPr>
        </p:nvSpPr>
        <p:spPr>
          <a:xfrm>
            <a:off x="6230160" y="1604520"/>
            <a:ext cx="5352840" cy="3977280"/>
          </a:xfrm>
          <a:prstGeom prst="rect">
            <a:avLst/>
          </a:prstGeom>
          <a:noFill/>
          <a:ln w="0">
            <a:noFill/>
          </a:ln>
        </p:spPr>
        <p:txBody>
          <a:bodyPr lIns="0" rIns="0" tIns="0" bIns="0" anchor="t">
            <a:normAutofit/>
          </a:bodyPr>
          <a:p>
            <a:pPr indent="0">
              <a:spcBef>
                <a:spcPts val="1417"/>
              </a:spcBef>
              <a:buNone/>
            </a:pPr>
            <a:endParaRPr b="0" lang="en-US" sz="3200" spc="-1" strike="noStrike">
              <a:solidFill>
                <a:schemeClr val="dk1"/>
              </a:solidFill>
              <a:latin typeface="Calibri"/>
            </a:endParaRPr>
          </a:p>
        </p:txBody>
      </p:sp>
      <p:sp>
        <p:nvSpPr>
          <p:cNvPr id="5" name="PlaceHolder 4"/>
          <p:cNvSpPr>
            <a:spLocks noGrp="1"/>
          </p:cNvSpPr>
          <p:nvPr>
            <p:ph type="ftr" idx="17"/>
          </p:nvPr>
        </p:nvSpPr>
        <p:spPr/>
        <p:txBody>
          <a:bodyPr/>
          <a:p>
            <a:r>
              <a:t>Footer</a:t>
            </a:r>
          </a:p>
        </p:txBody>
      </p:sp>
      <p:sp>
        <p:nvSpPr>
          <p:cNvPr id="6" name="PlaceHolder 5"/>
          <p:cNvSpPr>
            <a:spLocks noGrp="1"/>
          </p:cNvSpPr>
          <p:nvPr>
            <p:ph type="sldNum" idx="18"/>
          </p:nvPr>
        </p:nvSpPr>
        <p:spPr/>
        <p:txBody>
          <a:bodyPr/>
          <a:p>
            <a:fld id="{047EB400-DFDD-415D-B26C-81229CA1CB79}" type="slidenum">
              <a:t>&lt;#&gt;</a:t>
            </a:fld>
          </a:p>
        </p:txBody>
      </p:sp>
      <p:sp>
        <p:nvSpPr>
          <p:cNvPr id="7" name="PlaceHolder 6"/>
          <p:cNvSpPr>
            <a:spLocks noGrp="1"/>
          </p:cNvSpPr>
          <p:nvPr>
            <p:ph type="dt" idx="16"/>
          </p:nvPr>
        </p:nvSpPr>
        <p:spPr/>
        <p:txBody>
          <a:bodyPr/>
          <a:p>
            <a:r>
              <a:rPr lang="en-US"/>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p>
            <a:r>
              <a:t>Footer</a:t>
            </a:r>
          </a:p>
        </p:txBody>
      </p:sp>
      <p:sp>
        <p:nvSpPr>
          <p:cNvPr id="3" name="PlaceHolder 2"/>
          <p:cNvSpPr>
            <a:spLocks noGrp="1"/>
          </p:cNvSpPr>
          <p:nvPr>
            <p:ph type="sldNum" idx="21"/>
          </p:nvPr>
        </p:nvSpPr>
        <p:spPr/>
        <p:txBody>
          <a:bodyPr/>
          <a:p>
            <a:fld id="{DE7BB86E-B6AC-4EA9-B105-D2F84055351E}" type="slidenum">
              <a:t>&lt;#&gt;</a:t>
            </a:fld>
          </a:p>
        </p:txBody>
      </p:sp>
      <p:sp>
        <p:nvSpPr>
          <p:cNvPr id="4" name="PlaceHolder 3"/>
          <p:cNvSpPr>
            <a:spLocks noGrp="1"/>
          </p:cNvSpPr>
          <p:nvPr>
            <p:ph type="dt" idx="19"/>
          </p:nvPr>
        </p:nvSpPr>
        <p:spPr/>
        <p:txBody>
          <a:bodyPr/>
          <a:p>
            <a:r>
              <a:rPr lang="en-US"/>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endParaRPr b="0" lang="en-US" sz="1800" spc="-1" strike="noStrike">
              <a:solidFill>
                <a:schemeClr val="dk1"/>
              </a:solidFill>
              <a:latin typeface="Calibri"/>
            </a:endParaRPr>
          </a:p>
        </p:txBody>
      </p:sp>
      <p:sp>
        <p:nvSpPr>
          <p:cNvPr id="3" name="PlaceHolder 2"/>
          <p:cNvSpPr>
            <a:spLocks noGrp="1"/>
          </p:cNvSpPr>
          <p:nvPr>
            <p:ph type="ftr" idx="23"/>
          </p:nvPr>
        </p:nvSpPr>
        <p:spPr/>
        <p:txBody>
          <a:bodyPr/>
          <a:p>
            <a:r>
              <a:t>Footer</a:t>
            </a:r>
          </a:p>
        </p:txBody>
      </p:sp>
      <p:sp>
        <p:nvSpPr>
          <p:cNvPr id="4" name="PlaceHolder 3"/>
          <p:cNvSpPr>
            <a:spLocks noGrp="1"/>
          </p:cNvSpPr>
          <p:nvPr>
            <p:ph type="sldNum" idx="24"/>
          </p:nvPr>
        </p:nvSpPr>
        <p:spPr/>
        <p:txBody>
          <a:bodyPr/>
          <a:p>
            <a:fld id="{CAEBC316-0517-40E0-9487-968B494CD9ED}" type="slidenum">
              <a:t>&lt;#&gt;</a:t>
            </a:fld>
          </a:p>
        </p:txBody>
      </p:sp>
      <p:sp>
        <p:nvSpPr>
          <p:cNvPr id="5" name="PlaceHolder 4"/>
          <p:cNvSpPr>
            <a:spLocks noGrp="1"/>
          </p:cNvSpPr>
          <p:nvPr>
            <p:ph type="dt" idx="22"/>
          </p:nvPr>
        </p:nvSpPr>
        <p:spPr/>
        <p:txBody>
          <a:bodyPr/>
          <a:p>
            <a:r>
              <a:rPr lang="en-US"/>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p>
            <a:r>
              <a:t>Footer</a:t>
            </a:r>
          </a:p>
        </p:txBody>
      </p:sp>
      <p:sp>
        <p:nvSpPr>
          <p:cNvPr id="3" name="PlaceHolder 2"/>
          <p:cNvSpPr>
            <a:spLocks noGrp="1"/>
          </p:cNvSpPr>
          <p:nvPr>
            <p:ph type="sldNum" idx="27"/>
          </p:nvPr>
        </p:nvSpPr>
        <p:spPr/>
        <p:txBody>
          <a:bodyPr/>
          <a:p>
            <a:fld id="{1F44F6F1-B0A5-4612-BD7F-567A66689342}" type="slidenum">
              <a:t>&lt;#&gt;</a:t>
            </a:fld>
          </a:p>
        </p:txBody>
      </p:sp>
      <p:sp>
        <p:nvSpPr>
          <p:cNvPr id="4" name="PlaceHolder 3"/>
          <p:cNvSpPr>
            <a:spLocks noGrp="1"/>
          </p:cNvSpPr>
          <p:nvPr>
            <p:ph type="dt" idx="25"/>
          </p:nvPr>
        </p:nvSpPr>
        <p:spPr/>
        <p:txBody>
          <a:bodyPr/>
          <a:p>
            <a:r>
              <a:rPr lang="en-US"/>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p>
            <a:r>
              <a:t>Footer</a:t>
            </a:r>
          </a:p>
        </p:txBody>
      </p:sp>
      <p:sp>
        <p:nvSpPr>
          <p:cNvPr id="3" name="PlaceHolder 2"/>
          <p:cNvSpPr>
            <a:spLocks noGrp="1"/>
          </p:cNvSpPr>
          <p:nvPr>
            <p:ph type="sldNum" idx="30"/>
          </p:nvPr>
        </p:nvSpPr>
        <p:spPr/>
        <p:txBody>
          <a:bodyPr/>
          <a:p>
            <a:fld id="{C3BEDE7B-C96E-4E36-AB53-7E0A105E096C}" type="slidenum">
              <a:t>&lt;#&gt;</a:t>
            </a:fld>
          </a:p>
        </p:txBody>
      </p:sp>
      <p:sp>
        <p:nvSpPr>
          <p:cNvPr id="4" name="PlaceHolder 3"/>
          <p:cNvSpPr>
            <a:spLocks noGrp="1"/>
          </p:cNvSpPr>
          <p:nvPr>
            <p:ph type="dt" idx="28"/>
          </p:nvPr>
        </p:nvSpPr>
        <p:spPr/>
        <p:txBody>
          <a:bodyPr/>
          <a:p>
            <a:r>
              <a:rPr lang="en-US"/>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p>
            <a:r>
              <a:t>Footer</a:t>
            </a:r>
          </a:p>
        </p:txBody>
      </p:sp>
      <p:sp>
        <p:nvSpPr>
          <p:cNvPr id="3" name="PlaceHolder 2"/>
          <p:cNvSpPr>
            <a:spLocks noGrp="1"/>
          </p:cNvSpPr>
          <p:nvPr>
            <p:ph type="sldNum" idx="33"/>
          </p:nvPr>
        </p:nvSpPr>
        <p:spPr/>
        <p:txBody>
          <a:bodyPr/>
          <a:p>
            <a:fld id="{CAD230DD-2106-46F4-84A1-25D84BF89C2B}" type="slidenum">
              <a:t>&lt;#&gt;</a:t>
            </a:fld>
          </a:p>
        </p:txBody>
      </p:sp>
      <p:sp>
        <p:nvSpPr>
          <p:cNvPr id="4" name="PlaceHolder 3"/>
          <p:cNvSpPr>
            <a:spLocks noGrp="1"/>
          </p:cNvSpPr>
          <p:nvPr>
            <p:ph type="dt" idx="31"/>
          </p:nvPr>
        </p:nvSpPr>
        <p:spPr/>
        <p:txBody>
          <a:bodyPr/>
          <a:p>
            <a:r>
              <a:rPr lang="en-US"/>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85800" y="2130480"/>
            <a:ext cx="7772040" cy="146952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 name="PlaceHolder 2"/>
          <p:cNvSpPr>
            <a:spLocks noGrp="1"/>
          </p:cNvSpPr>
          <p:nvPr>
            <p:ph type="dt" idx="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15EA06D-DF64-414E-ACAB-E65FE72F0D80}"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15A8A0E4-E926-4AD9-943A-732DDCAC7431}"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lIns="91440" rIns="91440" tIns="45720" bIns="45720" anchor="ctr" vert="eaVert">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2" name="PlaceHolder 2"/>
          <p:cNvSpPr>
            <a:spLocks noGrp="1"/>
          </p:cNvSpPr>
          <p:nvPr>
            <p:ph type="body"/>
          </p:nvPr>
        </p:nvSpPr>
        <p:spPr>
          <a:xfrm>
            <a:off x="457200" y="274680"/>
            <a:ext cx="6019560" cy="5851080"/>
          </a:xfrm>
          <a:prstGeom prst="rect">
            <a:avLst/>
          </a:prstGeom>
          <a:noFill/>
          <a:ln w="0">
            <a:noFill/>
          </a:ln>
        </p:spPr>
        <p:txBody>
          <a:bodyPr lIns="91440" rIns="91440" tIns="45720" bIns="45720" anchor="t" vert="eaVe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A1F0DF48-7B85-4AD9-A00F-9602CD127D4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6F7FB80B-B29C-4635-B10B-442464EC03C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rIns="91440" tIns="45720" bIns="45720" anchor="t">
            <a:noAutofit/>
          </a:bodyPr>
          <a:p>
            <a:pPr indent="0" defTabSz="457200">
              <a:lnSpc>
                <a:spcPct val="100000"/>
              </a:lnSpc>
              <a:buNone/>
            </a:pPr>
            <a:r>
              <a:rPr b="1" lang="en-US" sz="4000" spc="-1" strike="noStrike" cap="all">
                <a:solidFill>
                  <a:schemeClr val="dk1"/>
                </a:solidFill>
                <a:latin typeface="Calibri"/>
              </a:rPr>
              <a:t>Click to edit Master title style</a:t>
            </a:r>
            <a:endParaRPr b="0" lang="en-US" sz="4000" spc="-1" strike="noStrike">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rIns="91440" tIns="45720" bIns="45720" anchor="b">
            <a:noAutofit/>
          </a:bodyPr>
          <a:p>
            <a:pPr indent="0" defTabSz="457200">
              <a:lnSpc>
                <a:spcPct val="100000"/>
              </a:lnSpc>
              <a:spcBef>
                <a:spcPts val="400"/>
              </a:spcBef>
              <a:buNone/>
              <a:tabLst>
                <a:tab algn="l" pos="0"/>
              </a:tabLst>
            </a:pPr>
            <a:r>
              <a:rPr b="0" lang="en-US" sz="2000" spc="-1" strike="noStrike">
                <a:solidFill>
                  <a:schemeClr val="dk1">
                    <a:tint val="75000"/>
                  </a:schemeClr>
                </a:solidFill>
                <a:latin typeface="Calibri"/>
              </a:rPr>
              <a:t>Click to edit Master text styles</a:t>
            </a:r>
            <a:endParaRPr b="0" lang="en-US" sz="2000" spc="-1" strike="noStrike">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4282831-9F23-49E1-A6A1-E95C9DB7CE6E}"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rIns="91440" tIns="45720" bIns="45720" anchor="t">
            <a:noAutofit/>
          </a:bodyPr>
          <a:p>
            <a:pPr marL="343080" indent="-343080" defTabSz="457200">
              <a:lnSpc>
                <a:spcPct val="100000"/>
              </a:lnSpc>
              <a:spcBef>
                <a:spcPts val="561"/>
              </a:spcBef>
              <a:buClr>
                <a:srgbClr val="000000"/>
              </a:buClr>
              <a:buFont typeface="Arial"/>
              <a:buChar char="•"/>
            </a:pPr>
            <a:r>
              <a:rPr b="0" lang="en-US" sz="2800" spc="-1" strike="noStrike">
                <a:solidFill>
                  <a:schemeClr val="dk1"/>
                </a:solidFill>
                <a:latin typeface="Calibri"/>
              </a:rPr>
              <a:t>Click to edit Master text styles</a:t>
            </a:r>
            <a:endParaRPr b="0" lang="en-US" sz="2800" spc="-1" strike="noStrike">
              <a:solidFill>
                <a:schemeClr val="dk1"/>
              </a:solidFill>
              <a:latin typeface="Calibri"/>
            </a:endParaRPr>
          </a:p>
          <a:p>
            <a:pPr lvl="1" marL="743040" indent="-285840" defTabSz="457200">
              <a:lnSpc>
                <a:spcPct val="100000"/>
              </a:lnSpc>
              <a:spcBef>
                <a:spcPts val="479"/>
              </a:spcBef>
              <a:buClr>
                <a:srgbClr val="000000"/>
              </a:buClr>
              <a:buFont typeface="Arial"/>
              <a:buChar char="–"/>
            </a:pPr>
            <a:r>
              <a:rPr b="0" lang="en-US" sz="2400" spc="-1" strike="noStrike">
                <a:solidFill>
                  <a:schemeClr val="dk1"/>
                </a:solidFill>
                <a:latin typeface="Calibri"/>
              </a:rPr>
              <a:t>Second level</a:t>
            </a:r>
            <a:endParaRPr b="0" lang="en-US" sz="2400" spc="-1" strike="noStrike">
              <a:solidFill>
                <a:schemeClr val="dk1"/>
              </a:solidFill>
              <a:latin typeface="Calibri"/>
            </a:endParaRPr>
          </a:p>
          <a:p>
            <a:pPr lvl="2" marL="11430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Third level</a:t>
            </a:r>
            <a:endParaRPr b="0" lang="en-US" sz="2000" spc="-1" strike="noStrike">
              <a:solidFill>
                <a:schemeClr val="dk1"/>
              </a:solidFill>
              <a:latin typeface="Calibri"/>
            </a:endParaRPr>
          </a:p>
          <a:p>
            <a:pPr lvl="3" marL="16002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Fourth level</a:t>
            </a:r>
            <a:endParaRPr b="0" lang="en-US" sz="1800" spc="-1" strike="noStrike">
              <a:solidFill>
                <a:schemeClr val="dk1"/>
              </a:solidFill>
              <a:latin typeface="Calibri"/>
            </a:endParaRPr>
          </a:p>
          <a:p>
            <a:pPr lvl="4" marL="20574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Fifth level</a:t>
            </a:r>
            <a:endParaRPr b="0" lang="en-US" sz="1800" spc="-1" strike="noStrike">
              <a:solidFill>
                <a:schemeClr val="dk1"/>
              </a:solidFill>
              <a:latin typeface="Calibri"/>
            </a:endParaRP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8710DFC-52C1-4693-B7C9-EA0CA3400D44}"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rIns="91440" tIns="45720" bIns="45720" anchor="b">
            <a:noAutofit/>
          </a:bodyPr>
          <a:p>
            <a:pPr indent="0" defTabSz="457200">
              <a:lnSpc>
                <a:spcPct val="100000"/>
              </a:lnSpc>
              <a:spcBef>
                <a:spcPts val="479"/>
              </a:spcBef>
              <a:buNone/>
              <a:tabLst>
                <a:tab algn="l" pos="0"/>
              </a:tabLst>
            </a:pPr>
            <a:r>
              <a:rPr b="1" lang="en-US" sz="2400" spc="-1" strike="noStrike">
                <a:solidFill>
                  <a:schemeClr val="dk1"/>
                </a:solidFill>
                <a:latin typeface="Calibri"/>
              </a:rPr>
              <a:t>Click to edit Master text styles</a:t>
            </a:r>
            <a:endParaRPr b="0" lang="en-US" sz="2400" spc="-1" strike="noStrike">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rIns="91440" tIns="45720" bIns="45720" anchor="t">
            <a:noAutofit/>
          </a:bodyPr>
          <a:p>
            <a:pPr marL="343080" indent="-343080" defTabSz="457200">
              <a:lnSpc>
                <a:spcPct val="100000"/>
              </a:lnSpc>
              <a:spcBef>
                <a:spcPts val="479"/>
              </a:spcBef>
              <a:buClr>
                <a:srgbClr val="000000"/>
              </a:buClr>
              <a:buFont typeface="Arial"/>
              <a:buChar char="•"/>
            </a:pPr>
            <a:r>
              <a:rPr b="0" lang="en-US" sz="2400" spc="-1" strike="noStrike">
                <a:solidFill>
                  <a:schemeClr val="dk1"/>
                </a:solidFill>
                <a:latin typeface="Calibri"/>
              </a:rPr>
              <a:t>Click to edit Master text styles</a:t>
            </a:r>
            <a:endParaRPr b="0" lang="en-US" sz="2400" spc="-1" strike="noStrike">
              <a:solidFill>
                <a:schemeClr val="dk1"/>
              </a:solidFill>
              <a:latin typeface="Calibri"/>
            </a:endParaRPr>
          </a:p>
          <a:p>
            <a:pPr lvl="1" marL="743040" indent="-285840" defTabSz="457200">
              <a:lnSpc>
                <a:spcPct val="100000"/>
              </a:lnSpc>
              <a:spcBef>
                <a:spcPts val="400"/>
              </a:spcBef>
              <a:buClr>
                <a:srgbClr val="000000"/>
              </a:buClr>
              <a:buFont typeface="Arial"/>
              <a:buChar char="–"/>
            </a:pPr>
            <a:r>
              <a:rPr b="0" lang="en-US" sz="2000" spc="-1" strike="noStrike">
                <a:solidFill>
                  <a:schemeClr val="dk1"/>
                </a:solidFill>
                <a:latin typeface="Calibri"/>
              </a:rPr>
              <a:t>Second level</a:t>
            </a:r>
            <a:endParaRPr b="0" lang="en-US" sz="2000" spc="-1" strike="noStrike">
              <a:solidFill>
                <a:schemeClr val="dk1"/>
              </a:solidFill>
              <a:latin typeface="Calibri"/>
            </a:endParaRPr>
          </a:p>
          <a:p>
            <a:pPr lvl="2" marL="1143000" indent="-228600" defTabSz="457200">
              <a:lnSpc>
                <a:spcPct val="100000"/>
              </a:lnSpc>
              <a:spcBef>
                <a:spcPts val="360"/>
              </a:spcBef>
              <a:buClr>
                <a:srgbClr val="000000"/>
              </a:buClr>
              <a:buFont typeface="Arial"/>
              <a:buChar char="•"/>
            </a:pPr>
            <a:r>
              <a:rPr b="0" lang="en-US" sz="1800" spc="-1" strike="noStrike">
                <a:solidFill>
                  <a:schemeClr val="dk1"/>
                </a:solidFill>
                <a:latin typeface="Calibri"/>
              </a:rPr>
              <a:t>Third level</a:t>
            </a:r>
            <a:endParaRPr b="0" lang="en-US" sz="1800" spc="-1" strike="noStrike">
              <a:solidFill>
                <a:schemeClr val="dk1"/>
              </a:solidFill>
              <a:latin typeface="Calibri"/>
            </a:endParaRPr>
          </a:p>
          <a:p>
            <a:pPr lvl="3" marL="16002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Fourth level</a:t>
            </a:r>
            <a:endParaRPr b="0" lang="en-US" sz="1600" spc="-1" strike="noStrike">
              <a:solidFill>
                <a:schemeClr val="dk1"/>
              </a:solidFill>
              <a:latin typeface="Calibri"/>
            </a:endParaRPr>
          </a:p>
          <a:p>
            <a:pPr lvl="4" marL="2057400" indent="-228600" defTabSz="457200">
              <a:lnSpc>
                <a:spcPct val="100000"/>
              </a:lnSpc>
              <a:spcBef>
                <a:spcPts val="320"/>
              </a:spcBef>
              <a:buClr>
                <a:srgbClr val="000000"/>
              </a:buClr>
              <a:buFont typeface="Arial"/>
              <a:buChar char="»"/>
            </a:pPr>
            <a:r>
              <a:rPr b="0" lang="en-US" sz="1600" spc="-1" strike="noStrike">
                <a:solidFill>
                  <a:schemeClr val="dk1"/>
                </a:solidFill>
                <a:latin typeface="Calibri"/>
              </a:rPr>
              <a:t>Fifth level</a:t>
            </a:r>
            <a:endParaRPr b="0" lang="en-US" sz="1600" spc="-1" strike="noStrike">
              <a:solidFill>
                <a:schemeClr val="dk1"/>
              </a:solidFill>
              <a:latin typeface="Calibri"/>
            </a:endParaRP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B3C14508-2BEF-4474-A555-69D90493D7F5}"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rIns="91440" tIns="45720" bIns="45720" anchor="ctr">
            <a:noAutofit/>
          </a:bodyPr>
          <a:p>
            <a:pPr indent="0" algn="ctr" defTabSz="457200">
              <a:lnSpc>
                <a:spcPct val="100000"/>
              </a:lnSpc>
              <a:buNone/>
            </a:pPr>
            <a:r>
              <a:rPr b="0" lang="en-US" sz="4400" spc="-1" strike="noStrike">
                <a:solidFill>
                  <a:schemeClr val="dk1"/>
                </a:solidFill>
                <a:latin typeface="Calibri"/>
              </a:rPr>
              <a:t>Click to edit Master title style</a:t>
            </a:r>
            <a:endParaRPr b="0" lang="en-US" sz="4400" spc="-1" strike="noStrike">
              <a:solidFill>
                <a:schemeClr val="dk1"/>
              </a:solidFill>
              <a:latin typeface="Calibri"/>
            </a:endParaRP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4F2B04C-ECEA-4F05-BF34-445F991742DD}"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CACB2C5A-A9A8-4173-8D3C-8C4600052E7A}"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
        <p:nvSpPr>
          <p:cNvPr id="53" name="PlaceHolder 4"/>
          <p:cNvSpPr>
            <a:spLocks noGrp="1"/>
          </p:cNvSpPr>
          <p:nvPr>
            <p:ph type="title"/>
          </p:nvPr>
        </p:nvSpPr>
        <p:spPr>
          <a:xfrm>
            <a:off x="609120" y="273600"/>
            <a:ext cx="10969560" cy="11448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title text format</a:t>
            </a:r>
            <a:endParaRPr b="0" lang="en-US" sz="1800" spc="-1" strike="noStrike">
              <a:solidFill>
                <a:schemeClr val="dk1"/>
              </a:solidFill>
              <a:latin typeface="Calibri"/>
            </a:endParaRPr>
          </a:p>
        </p:txBody>
      </p:sp>
      <p:sp>
        <p:nvSpPr>
          <p:cNvPr id="54" name="PlaceHolder 5"/>
          <p:cNvSpPr>
            <a:spLocks noGrp="1"/>
          </p:cNvSpPr>
          <p:nvPr>
            <p:ph type="body"/>
          </p:nvPr>
        </p:nvSpPr>
        <p:spPr>
          <a:xfrm>
            <a:off x="609120" y="1604520"/>
            <a:ext cx="1096956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rIns="91440" tIns="45720" bIns="45720" anchor="t">
            <a:noAutofit/>
          </a:bodyPr>
          <a:p>
            <a:pPr marL="343080" indent="-343080" defTabSz="457200">
              <a:lnSpc>
                <a:spcPct val="100000"/>
              </a:lnSpc>
              <a:spcBef>
                <a:spcPts val="641"/>
              </a:spcBef>
              <a:buClr>
                <a:srgbClr val="000000"/>
              </a:buClr>
              <a:buFont typeface="Arial"/>
              <a:buChar char="•"/>
            </a:pPr>
            <a:r>
              <a:rPr b="0" lang="en-US" sz="3200" spc="-1" strike="noStrike">
                <a:solidFill>
                  <a:schemeClr val="dk1"/>
                </a:solidFill>
                <a:latin typeface="Calibri"/>
              </a:rPr>
              <a:t>Click to edit Master text styles</a:t>
            </a:r>
            <a:endParaRPr b="0" lang="en-US" sz="3200" spc="-1" strike="noStrike">
              <a:solidFill>
                <a:schemeClr val="dk1"/>
              </a:solidFill>
              <a:latin typeface="Calibri"/>
            </a:endParaRPr>
          </a:p>
          <a:p>
            <a:pPr lvl="1" marL="743040" indent="-285840" defTabSz="457200">
              <a:lnSpc>
                <a:spcPct val="100000"/>
              </a:lnSpc>
              <a:spcBef>
                <a:spcPts val="561"/>
              </a:spcBef>
              <a:buClr>
                <a:srgbClr val="000000"/>
              </a:buClr>
              <a:buFont typeface="Arial"/>
              <a:buChar char="–"/>
            </a:pPr>
            <a:r>
              <a:rPr b="0" lang="en-US" sz="2800" spc="-1" strike="noStrike">
                <a:solidFill>
                  <a:schemeClr val="dk1"/>
                </a:solidFill>
                <a:latin typeface="Calibri"/>
              </a:rPr>
              <a:t>Second level</a:t>
            </a:r>
            <a:endParaRPr b="0" lang="en-US" sz="2800" spc="-1" strike="noStrike">
              <a:solidFill>
                <a:schemeClr val="dk1"/>
              </a:solidFill>
              <a:latin typeface="Calibri"/>
            </a:endParaRPr>
          </a:p>
          <a:p>
            <a:pPr lvl="2" marL="1143000" indent="-228600" defTabSz="457200">
              <a:lnSpc>
                <a:spcPct val="100000"/>
              </a:lnSpc>
              <a:spcBef>
                <a:spcPts val="479"/>
              </a:spcBef>
              <a:buClr>
                <a:srgbClr val="000000"/>
              </a:buClr>
              <a:buFont typeface="Arial"/>
              <a:buChar char="•"/>
            </a:pPr>
            <a:r>
              <a:rPr b="0" lang="en-US" sz="2400" spc="-1" strike="noStrike">
                <a:solidFill>
                  <a:schemeClr val="dk1"/>
                </a:solidFill>
                <a:latin typeface="Calibri"/>
              </a:rPr>
              <a:t>Third level</a:t>
            </a:r>
            <a:endParaRPr b="0" lang="en-US" sz="2400" spc="-1" strike="noStrike">
              <a:solidFill>
                <a:schemeClr val="dk1"/>
              </a:solidFill>
              <a:latin typeface="Calibri"/>
            </a:endParaRPr>
          </a:p>
          <a:p>
            <a:pPr lvl="3" marL="16002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Fourth level</a:t>
            </a:r>
            <a:endParaRPr b="0" lang="en-US" sz="2000" spc="-1" strike="noStrike">
              <a:solidFill>
                <a:schemeClr val="dk1"/>
              </a:solidFill>
              <a:latin typeface="Calibri"/>
            </a:endParaRPr>
          </a:p>
          <a:p>
            <a:pPr lvl="4" marL="2057400" indent="-228600" defTabSz="457200">
              <a:lnSpc>
                <a:spcPct val="100000"/>
              </a:lnSpc>
              <a:spcBef>
                <a:spcPts val="400"/>
              </a:spcBef>
              <a:buClr>
                <a:srgbClr val="000000"/>
              </a:buClr>
              <a:buFont typeface="Arial"/>
              <a:buChar char="»"/>
            </a:pPr>
            <a:r>
              <a:rPr b="0" lang="en-US" sz="2000" spc="-1" strike="noStrike">
                <a:solidFill>
                  <a:schemeClr val="dk1"/>
                </a:solidFill>
                <a:latin typeface="Calibri"/>
              </a:rPr>
              <a:t>Fifth level</a:t>
            </a:r>
            <a:endParaRPr b="0" lang="en-US" sz="2000" spc="-1" strike="noStrike">
              <a:solidFill>
                <a:schemeClr val="dk1"/>
              </a:solidFill>
              <a:latin typeface="Calibri"/>
            </a:endParaRP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50369123-BF4A-40A0-AB2D-413E516E02E6}"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rIns="91440" tIns="45720" bIns="45720" anchor="b">
            <a:noAutofit/>
          </a:bodyPr>
          <a:p>
            <a:pPr indent="0" defTabSz="457200">
              <a:lnSpc>
                <a:spcPct val="100000"/>
              </a:lnSpc>
              <a:buNone/>
            </a:pPr>
            <a:r>
              <a:rPr b="1" lang="en-US" sz="2000" spc="-1" strike="noStrike">
                <a:solidFill>
                  <a:schemeClr val="dk1"/>
                </a:solidFill>
                <a:latin typeface="Calibri"/>
              </a:rPr>
              <a:t>Click to edit Master title style</a:t>
            </a:r>
            <a:endParaRPr b="0" lang="en-US" sz="2000" spc="-1" strike="noStrike">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rIns="90000" tIns="45000" bIns="45000" anchor="t">
            <a:noAutofit/>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3200" spc="-1" strike="noStrike">
                <a:solidFill>
                  <a:schemeClr val="dk1"/>
                </a:solidFill>
                <a:latin typeface="Calibri"/>
              </a:rPr>
              <a:t>Second Outline Level</a:t>
            </a:r>
            <a:endParaRPr b="0" lang="en-US" sz="32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3200" spc="-1" strike="noStrike">
                <a:solidFill>
                  <a:schemeClr val="dk1"/>
                </a:solidFill>
                <a:latin typeface="Calibri"/>
              </a:rPr>
              <a:t>Third Outline Level</a:t>
            </a:r>
            <a:endParaRPr b="0" lang="en-US" sz="32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3200" spc="-1" strike="noStrike">
                <a:solidFill>
                  <a:schemeClr val="dk1"/>
                </a:solidFill>
                <a:latin typeface="Calibri"/>
              </a:rPr>
              <a:t>Fourth Outline Level</a:t>
            </a:r>
            <a:endParaRPr b="0" lang="en-US" sz="32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3200" spc="-1" strike="noStrike">
                <a:solidFill>
                  <a:schemeClr val="dk1"/>
                </a:solidFill>
                <a:latin typeface="Calibri"/>
              </a:rPr>
              <a:t>Fifth Outline Level</a:t>
            </a:r>
            <a:endParaRPr b="0" lang="en-US" sz="32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3200" spc="-1" strike="noStrike">
                <a:solidFill>
                  <a:schemeClr val="dk1"/>
                </a:solidFill>
                <a:latin typeface="Calibri"/>
              </a:rPr>
              <a:t>Sixth Outline Level</a:t>
            </a:r>
            <a:endParaRPr b="0" lang="en-US" sz="32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3200" spc="-1" strike="noStrike">
                <a:solidFill>
                  <a:schemeClr val="dk1"/>
                </a:solidFill>
                <a:latin typeface="Calibri"/>
              </a:rPr>
              <a:t>Seventh Outline Level</a:t>
            </a:r>
            <a:endParaRPr b="0" lang="en-US" sz="3200" spc="-1" strike="noStrike">
              <a:solidFill>
                <a:schemeClr val="dk1"/>
              </a:solidFill>
              <a:latin typeface="Calibri"/>
            </a:endParaRP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rIns="91440" tIns="45720" bIns="45720" anchor="t">
            <a:noAutofit/>
          </a:bodyPr>
          <a:p>
            <a:pPr indent="0" defTabSz="457200">
              <a:lnSpc>
                <a:spcPct val="100000"/>
              </a:lnSpc>
              <a:spcBef>
                <a:spcPts val="281"/>
              </a:spcBef>
              <a:buNone/>
              <a:tabLst>
                <a:tab algn="l" pos="0"/>
              </a:tabLst>
            </a:pPr>
            <a:r>
              <a:rPr b="0" lang="en-US" sz="1400" spc="-1" strike="noStrike">
                <a:solidFill>
                  <a:schemeClr val="dk1"/>
                </a:solidFill>
                <a:latin typeface="Calibri"/>
              </a:rPr>
              <a:t>Click to edit Master text styles</a:t>
            </a:r>
            <a:endParaRPr b="0" lang="en-US" sz="1400" spc="-1" strike="noStrike">
              <a:solidFill>
                <a:schemeClr val="dk1"/>
              </a:solidFill>
              <a:latin typeface="Calibri"/>
            </a:endParaRP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rIns="91440" tIns="45720" bIns="45720" anchor="ctr">
            <a:noAutofit/>
          </a:bodyPr>
          <a:lstStyle>
            <a:lvl1pPr indent="0" defTabSz="457200">
              <a:lnSpc>
                <a:spcPct val="100000"/>
              </a:lnSpc>
              <a:buNone/>
              <a:defRPr b="0" lang="en-US" sz="1200" spc="-1" strike="noStrike">
                <a:solidFill>
                  <a:schemeClr val="dk1">
                    <a:tint val="75000"/>
                  </a:schemeClr>
                </a:solidFill>
                <a:latin typeface="Calibri"/>
              </a:defRPr>
            </a:lvl1pPr>
          </a:lstStyle>
          <a:p>
            <a:pPr indent="0" defTabSz="457200">
              <a:lnSpc>
                <a:spcPct val="100000"/>
              </a:lnSpc>
              <a:buNone/>
            </a:pPr>
            <a:r>
              <a:rPr b="0" lang="en-US" sz="1200" spc="-1" strike="noStrike">
                <a:solidFill>
                  <a:schemeClr val="dk1">
                    <a:tint val="75000"/>
                  </a:schemeClr>
                </a:solidFill>
                <a:latin typeface="Calibri"/>
              </a:rPr>
              <a:t>&lt;date/time&gt;</a:t>
            </a:r>
            <a:endParaRPr b="0" lang="en-US" sz="1200" spc="-1" strike="noStrike">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rIns="91440" tIns="45720" bIns="45720" anchor="ctr">
            <a:noAutofit/>
          </a:bodyPr>
          <a:lstStyle>
            <a:lvl1pPr indent="0" algn="ctr">
              <a:buNone/>
              <a:defRPr b="0" lang="en-US" sz="1400" spc="-1" strike="noStrike">
                <a:solidFill>
                  <a:srgbClr val="000000"/>
                </a:solidFill>
                <a:latin typeface="Times New Roman"/>
              </a:defRPr>
            </a:lvl1pPr>
          </a:lstStyle>
          <a:p>
            <a:pPr indent="0" algn="ctr">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rIns="91440" tIns="45720" bIns="45720" anchor="ctr">
            <a:noAutofit/>
          </a:bodyPr>
          <a:lstStyle>
            <a:lvl1pPr indent="0" algn="r" defTabSz="457200">
              <a:lnSpc>
                <a:spcPct val="100000"/>
              </a:lnSpc>
              <a:buNone/>
              <a:defRPr b="0" lang="en-US" sz="1200" spc="-1" strike="noStrike">
                <a:solidFill>
                  <a:schemeClr val="dk1">
                    <a:tint val="75000"/>
                  </a:schemeClr>
                </a:solidFill>
                <a:latin typeface="Calibri"/>
              </a:defRPr>
            </a:lvl1pPr>
          </a:lstStyle>
          <a:p>
            <a:pPr indent="0" algn="r" defTabSz="457200">
              <a:lnSpc>
                <a:spcPct val="100000"/>
              </a:lnSpc>
              <a:buNone/>
            </a:pPr>
            <a:fld id="{0065373B-A808-4398-8DE7-40B37DD6AFD2}" type="slidenum">
              <a:rPr b="0" lang="en-US" sz="1200" spc="-1" strike="noStrike">
                <a:solidFill>
                  <a:schemeClr val="dk1">
                    <a:tint val="75000"/>
                  </a:schemeClr>
                </a:solidFill>
                <a:latin typeface="Calibri"/>
              </a:rPr>
              <a:t>&lt;number&gt;</a:t>
            </a:fld>
            <a:endParaRPr b="0" lang="en-US" sz="12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5.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9.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67" name="TextBox 1"/>
          <p:cNvSpPr/>
          <p:nvPr/>
        </p:nvSpPr>
        <p:spPr>
          <a:xfrm>
            <a:off x="914400" y="1828800"/>
            <a:ext cx="10359720" cy="25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spcAft>
                <a:spcPts val="1001"/>
              </a:spcAft>
            </a:pPr>
            <a:r>
              <a:rPr b="0" lang="en-US" sz="5400" spc="-1" strike="noStrike">
                <a:solidFill>
                  <a:schemeClr val="dk1"/>
                </a:solidFill>
                <a:latin typeface="Calibri"/>
              </a:rPr>
              <a:t>🔐</a:t>
            </a:r>
            <a:endParaRPr b="0" lang="en-US" sz="5400" spc="-1" strike="noStrike">
              <a:solidFill>
                <a:srgbClr val="ffffff"/>
              </a:solidFill>
              <a:latin typeface="Arial"/>
            </a:endParaRPr>
          </a:p>
          <a:p>
            <a:pPr algn="ctr" defTabSz="457200">
              <a:lnSpc>
                <a:spcPct val="100000"/>
              </a:lnSpc>
              <a:spcAft>
                <a:spcPts val="799"/>
              </a:spcAft>
            </a:pPr>
            <a:r>
              <a:rPr b="1" lang="en-US" sz="5600" spc="-1" strike="noStrike">
                <a:solidFill>
                  <a:srgbClr val="f8fafc"/>
                </a:solidFill>
                <a:latin typeface="Segoe UI"/>
              </a:rPr>
              <a:t>Enc²Health</a:t>
            </a:r>
            <a:endParaRPr b="0" lang="en-US" sz="5600" spc="-1" strike="noStrike">
              <a:solidFill>
                <a:srgbClr val="ffffff"/>
              </a:solidFill>
              <a:latin typeface="Arial"/>
            </a:endParaRPr>
          </a:p>
          <a:p>
            <a:pPr algn="ctr" defTabSz="457200">
              <a:lnSpc>
                <a:spcPct val="100000"/>
              </a:lnSpc>
              <a:spcAft>
                <a:spcPts val="201"/>
              </a:spcAft>
            </a:pPr>
            <a:r>
              <a:rPr b="0" lang="en-US" sz="1800" spc="-1" strike="noStrike">
                <a:solidFill>
                  <a:srgbClr val="06b6d4"/>
                </a:solidFill>
                <a:latin typeface="Segoe UI"/>
              </a:rPr>
              <a:t>Hybrid Adaptive Encrypted Query Processing cho Cloud-Native DBMS</a:t>
            </a:r>
            <a:endParaRPr b="0" lang="en-US" sz="1800" spc="-1" strike="noStrike">
              <a:solidFill>
                <a:srgbClr val="ffffff"/>
              </a:solidFill>
              <a:latin typeface="Arial"/>
            </a:endParaRPr>
          </a:p>
          <a:p>
            <a:pPr algn="ctr" defTabSz="457200">
              <a:lnSpc>
                <a:spcPct val="100000"/>
              </a:lnSpc>
            </a:pPr>
            <a:r>
              <a:rPr b="0" lang="en-US" sz="1400" spc="-1" strike="noStrike">
                <a:solidFill>
                  <a:srgbClr val="94a3b8"/>
                </a:solidFill>
                <a:latin typeface="Segoe UI"/>
              </a:rPr>
              <a:t>Bảo vệ dữ liệu y tế nhạy cảm tự thích ứng trong môi trường đám mây</a:t>
            </a:r>
            <a:endParaRPr b="0" lang="en-US" sz="1400" spc="-1" strike="noStrike">
              <a:solidFill>
                <a:srgbClr val="ffffff"/>
              </a:solidFill>
              <a:latin typeface="Arial"/>
            </a:endParaRPr>
          </a:p>
        </p:txBody>
      </p:sp>
      <p:sp>
        <p:nvSpPr>
          <p:cNvPr id="68" name="TextBox 2"/>
          <p:cNvSpPr/>
          <p:nvPr/>
        </p:nvSpPr>
        <p:spPr>
          <a:xfrm>
            <a:off x="914400" y="5303520"/>
            <a:ext cx="10359720" cy="2725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200" spc="-1" strike="noStrike">
                <a:solidFill>
                  <a:srgbClr val="94a3b8"/>
                </a:solidFill>
                <a:latin typeface="Segoe UI"/>
              </a:rPr>
              <a:t>Nguyễn Hoàng Long (KMS &amp; Enc)   |   Lâm Tú Lan (TEE &amp; Obs)   |   Nguyễn Lê Thành Nam (Router &amp; Adaptive)</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9" name="TextBox 1"/>
          <p:cNvSpPr/>
          <p:nvPr/>
        </p:nvSpPr>
        <p:spPr>
          <a:xfrm>
            <a:off x="548640" y="365760"/>
            <a:ext cx="9143640" cy="975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Thực Trạng &amp; Rủi Ro Bảo Mật (Security Risks)</a:t>
            </a:r>
            <a:endParaRPr b="0" lang="en-US" sz="3200" spc="-1" strike="noStrike">
              <a:solidFill>
                <a:srgbClr val="000000"/>
              </a:solidFill>
              <a:latin typeface="Arial"/>
            </a:endParaRPr>
          </a:p>
        </p:txBody>
      </p:sp>
      <p:sp>
        <p:nvSpPr>
          <p:cNvPr id="70" name="TextBox 2"/>
          <p:cNvSpPr/>
          <p:nvPr/>
        </p:nvSpPr>
        <p:spPr>
          <a:xfrm>
            <a:off x="10615320" y="365760"/>
            <a:ext cx="8974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2 / 14</a:t>
            </a:r>
            <a:endParaRPr b="0" lang="en-US" sz="1100" spc="-1" strike="noStrike">
              <a:solidFill>
                <a:srgbClr val="000000"/>
              </a:solidFill>
              <a:latin typeface="Arial"/>
            </a:endParaRPr>
          </a:p>
        </p:txBody>
      </p:sp>
      <p:sp>
        <p:nvSpPr>
          <p:cNvPr id="71" name="Rounded Rectangle 4"/>
          <p:cNvSpPr/>
          <p:nvPr/>
        </p:nvSpPr>
        <p:spPr>
          <a:xfrm>
            <a:off x="548640" y="1371600"/>
            <a:ext cx="5303160" cy="2011320"/>
          </a:xfrm>
          <a:prstGeom prst="roundRect">
            <a:avLst>
              <a:gd name="adj" fmla="val 16667"/>
            </a:avLst>
          </a:prstGeom>
          <a:solidFill>
            <a:srgbClr val="f1f5f9"/>
          </a:solidFill>
          <a:ln w="19050">
            <a:solidFill>
              <a:srgbClr val="e11d4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e11d48"/>
                </a:solidFill>
                <a:latin typeface="Segoe UI"/>
              </a:rPr>
              <a:t>Thách thức: Lộ lọt dữ liệu y tế nhạy cảm (PHI)</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Thông tin y tế nhạy cảm khi lưu trữ đám mây dễ bị xâm phạm do Cloud Admin tò mò (mô hình đe dọa Honest-but-curious) hoặc Hacker chiếm quyền ảo hóa OS/Hypervisor.</a:t>
            </a:r>
            <a:br>
              <a:rPr sz="1200"/>
            </a:br>
            <a:br>
              <a:rPr sz="1200"/>
            </a:br>
            <a:r>
              <a:rPr b="0" lang="en-US" sz="1200" spc="-1" strike="noStrike">
                <a:solidFill>
                  <a:srgbClr val="0f172a"/>
                </a:solidFill>
                <a:latin typeface="Arial"/>
              </a:rPr>
              <a:t>• Rò rỉ tĩnh (At-Rest): Đọc trộm file DB vật lý trên ổ cứng đám mây.</a:t>
            </a:r>
            <a:br>
              <a:rPr sz="1200"/>
            </a:br>
            <a:r>
              <a:rPr b="0" lang="en-US" sz="1200" spc="-1" strike="noStrike">
                <a:solidFill>
                  <a:srgbClr val="0f172a"/>
                </a:solidFill>
                <a:latin typeface="Arial"/>
              </a:rPr>
              <a:t>• Rò rỉ tính toán (In-Use): Lớn nhất. DBMS giải mã ciphertext thành plaintext trên RAM của host để tính toán gộp (SUM/AVG) làm lộ bộ nhớ.</a:t>
            </a:r>
            <a:endParaRPr b="0" lang="en-US" sz="1200" spc="-1" strike="noStrike">
              <a:solidFill>
                <a:srgbClr val="000000"/>
              </a:solidFill>
              <a:latin typeface="Arial"/>
            </a:endParaRPr>
          </a:p>
        </p:txBody>
      </p:sp>
      <p:sp>
        <p:nvSpPr>
          <p:cNvPr id="72" name="Rounded Rectangle 5"/>
          <p:cNvSpPr/>
          <p:nvPr/>
        </p:nvSpPr>
        <p:spPr>
          <a:xfrm>
            <a:off x="6217920" y="1371600"/>
            <a:ext cx="5394600" cy="4845960"/>
          </a:xfrm>
          <a:prstGeom prst="roundRect">
            <a:avLst>
              <a:gd name="adj" fmla="val 16667"/>
            </a:avLst>
          </a:prstGeom>
          <a:solidFill>
            <a:srgbClr val="f1f5f9"/>
          </a:solidFill>
          <a:ln w="19050">
            <a:solidFill>
              <a:srgbClr val="475569"/>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475569"/>
                </a:solidFill>
                <a:latin typeface="Segoe UI"/>
              </a:rPr>
              <a:t>Sự Kiện Thực Tế &amp; Rủi Ro Thực Tiễn</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Vụ tấn công SingHealth (Singapore - 2018):</a:t>
            </a:r>
            <a:br>
              <a:rPr sz="1200"/>
            </a:br>
            <a:r>
              <a:rPr b="0" lang="en-US" sz="1200" spc="-1" strike="noStrike">
                <a:solidFill>
                  <a:srgbClr val="0f172a"/>
                </a:solidFill>
                <a:latin typeface="Arial"/>
              </a:rPr>
              <a:t>  Đánh cắp bệnh án của 1.5 triệu bệnh nhân, bao gồm cả Thủ tướng Lý Hiển Long, do kiểm soát DB đám mây.</a:t>
            </a:r>
            <a:br>
              <a:rPr sz="1200"/>
            </a:br>
            <a:br>
              <a:rPr sz="1200"/>
            </a:br>
            <a:r>
              <a:rPr b="0" lang="en-US" sz="1200" spc="-1" strike="noStrike">
                <a:solidFill>
                  <a:srgbClr val="0f172a"/>
                </a:solidFill>
                <a:latin typeface="Arial"/>
              </a:rPr>
              <a:t>• Vụ Change Healthcare (Mỹ - 2024):</a:t>
            </a:r>
            <a:br>
              <a:rPr sz="1200"/>
            </a:br>
            <a:r>
              <a:rPr b="0" lang="en-US" sz="1200" spc="-1" strike="noStrike">
                <a:solidFill>
                  <a:srgbClr val="0f172a"/>
                </a:solidFill>
                <a:latin typeface="Arial"/>
              </a:rPr>
              <a:t>  Rò rỉ thông tin y tế của hơn 1/3 người dân Mỹ trên cloud, gây tê liệt thanh toán và dịch vụ y tế diện rộng.</a:t>
            </a:r>
            <a:br>
              <a:rPr sz="1200"/>
            </a:br>
            <a:br>
              <a:rPr sz="1200"/>
            </a:br>
            <a:r>
              <a:rPr b="0" lang="en-US" sz="1200" spc="-1" strike="noStrike">
                <a:solidFill>
                  <a:srgbClr val="0f172a"/>
                </a:solidFill>
                <a:latin typeface="Arial"/>
              </a:rPr>
              <a:t>• Sự cố rò rỉ RAM (Meltdown/Spectre &amp; VM Escape):</a:t>
            </a:r>
            <a:br>
              <a:rPr sz="1200"/>
            </a:br>
            <a:r>
              <a:rPr b="0" lang="en-US" sz="1200" spc="-1" strike="noStrike">
                <a:solidFill>
                  <a:srgbClr val="0f172a"/>
                </a:solidFill>
                <a:latin typeface="Arial"/>
              </a:rPr>
              <a:t>  Kẻ tấn công hoặc Cloud admin bất chính vượt qua ranh giới ảo hóa của máy chủ đám mây để đọc trực tiếp dữ liệu và khóa giải mã plaintext trên RAM của máy chủ.</a:t>
            </a:r>
            <a:endParaRPr b="0" lang="en-US" sz="1200" spc="-1" strike="noStrike">
              <a:solidFill>
                <a:srgbClr val="000000"/>
              </a:solidFill>
              <a:latin typeface="Arial"/>
            </a:endParaRPr>
          </a:p>
        </p:txBody>
      </p:sp>
      <p:sp>
        <p:nvSpPr>
          <p:cNvPr id="73" name="Rounded Rectangle 6"/>
          <p:cNvSpPr/>
          <p:nvPr/>
        </p:nvSpPr>
        <p:spPr>
          <a:xfrm>
            <a:off x="548640" y="3566160"/>
            <a:ext cx="5303160" cy="2651400"/>
          </a:xfrm>
          <a:prstGeom prst="roundRect">
            <a:avLst>
              <a:gd name="adj" fmla="val 16667"/>
            </a:avLst>
          </a:prstGeom>
          <a:solidFill>
            <a:srgbClr val="f1f5f9"/>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06b6d4"/>
                </a:solidFill>
                <a:latin typeface="Segoe UI"/>
              </a:rPr>
              <a:t>Mô hình đe dọa giả định (Threat Model)</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Hệ thống giả định nhà cung cấp đám mây là Honest-but-curious:</a:t>
            </a:r>
            <a:br>
              <a:rPr sz="1200"/>
            </a:br>
            <a:r>
              <a:rPr b="0" lang="en-US" sz="1200" spc="-1" strike="noStrike">
                <a:solidFill>
                  <a:srgbClr val="0f172a"/>
                </a:solidFill>
                <a:latin typeface="Arial"/>
              </a:rPr>
              <a:t>1. Vận hành hệ thống đúng cách (trung thực).</a:t>
            </a:r>
            <a:br>
              <a:rPr sz="1200"/>
            </a:br>
            <a:r>
              <a:rPr b="0" lang="en-US" sz="1200" spc="-1" strike="noStrike">
                <a:solidFill>
                  <a:srgbClr val="0f172a"/>
                </a:solidFill>
                <a:latin typeface="Arial"/>
              </a:rPr>
              <a:t>2. Nhưng tò mò: Cố gắng thu thập thông tin y tế bệnh nhân bằng cách quét đĩa cứng hoặc dump bộ nhớ RAM khi DBMS tính toán.</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4" name="TextBox 1"/>
          <p:cNvSpPr/>
          <p:nvPr/>
        </p:nvSpPr>
        <p:spPr>
          <a:xfrm>
            <a:off x="548640" y="365760"/>
            <a:ext cx="9143640" cy="488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Mục Tiêu Của Đồ Án (Project Goals)</a:t>
            </a:r>
            <a:endParaRPr b="0" lang="en-US" sz="3200" spc="-1" strike="noStrike">
              <a:solidFill>
                <a:srgbClr val="000000"/>
              </a:solidFill>
              <a:latin typeface="Arial"/>
            </a:endParaRPr>
          </a:p>
        </p:txBody>
      </p:sp>
      <p:sp>
        <p:nvSpPr>
          <p:cNvPr id="75" name="TextBox 2"/>
          <p:cNvSpPr/>
          <p:nvPr/>
        </p:nvSpPr>
        <p:spPr>
          <a:xfrm>
            <a:off x="10615320" y="365760"/>
            <a:ext cx="8974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3 / 14</a:t>
            </a:r>
            <a:endParaRPr b="0" lang="en-US" sz="1100" spc="-1" strike="noStrike">
              <a:solidFill>
                <a:srgbClr val="000000"/>
              </a:solidFill>
              <a:latin typeface="Arial"/>
            </a:endParaRPr>
          </a:p>
        </p:txBody>
      </p:sp>
      <p:sp>
        <p:nvSpPr>
          <p:cNvPr id="76" name="Rounded Rectangle 4"/>
          <p:cNvSpPr/>
          <p:nvPr/>
        </p:nvSpPr>
        <p:spPr>
          <a:xfrm>
            <a:off x="548640" y="1645920"/>
            <a:ext cx="3474360" cy="3657240"/>
          </a:xfrm>
          <a:prstGeom prst="roundRect">
            <a:avLst>
              <a:gd name="adj" fmla="val 16667"/>
            </a:avLst>
          </a:prstGeom>
          <a:solidFill>
            <a:srgbClr val="f1f5f9"/>
          </a:solidFill>
          <a:ln w="19050">
            <a:solidFill>
              <a:srgbClr val="8b5cf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8b5cf6"/>
                </a:solidFill>
                <a:latin typeface="Segoe UI"/>
              </a:rPr>
              <a:t>1. An Toàn Khi Tính Toán</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Đảm bảo dữ liệu y tế nhạy cảm (PHI) luôn được bảo vệ dưới dạng bản mã khi lưu trữ trên cơ sở dữ liệu và chỉ được giải mã tính toán bên trong phân vùng nhớ mã hóa phần cứng (Enclave TEE).</a:t>
            </a:r>
            <a:br>
              <a:rPr sz="1200"/>
            </a:br>
            <a:br>
              <a:rPr sz="1200"/>
            </a:br>
            <a:r>
              <a:rPr b="0" lang="en-US" sz="1200" spc="-1" strike="noStrike">
                <a:solidFill>
                  <a:srgbClr val="0f172a"/>
                </a:solidFill>
                <a:latin typeface="Arial"/>
              </a:rPr>
              <a:t>Không để lộ plaintext hoặc khóa giải mã trên RAM thường của host đám mây.</a:t>
            </a:r>
            <a:endParaRPr b="0" lang="en-US" sz="1200" spc="-1" strike="noStrike">
              <a:solidFill>
                <a:srgbClr val="000000"/>
              </a:solidFill>
              <a:latin typeface="Arial"/>
            </a:endParaRPr>
          </a:p>
        </p:txBody>
      </p:sp>
      <p:sp>
        <p:nvSpPr>
          <p:cNvPr id="77" name="Rounded Rectangle 5"/>
          <p:cNvSpPr/>
          <p:nvPr/>
        </p:nvSpPr>
        <p:spPr>
          <a:xfrm>
            <a:off x="4297680" y="1645920"/>
            <a:ext cx="3474360" cy="3657240"/>
          </a:xfrm>
          <a:prstGeom prst="roundRect">
            <a:avLst>
              <a:gd name="adj" fmla="val 16667"/>
            </a:avLst>
          </a:prstGeom>
          <a:solidFill>
            <a:srgbClr val="f1f5f9"/>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06b6d4"/>
                </a:solidFill>
                <a:latin typeface="Segoe UI"/>
              </a:rPr>
              <a:t>2. Tính Tương Thích &amp; Tiện Dụng</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Hỗ trợ đầy đủ các toán tử phân tích và thống kê y tế phổ biến:</a:t>
            </a:r>
            <a:br>
              <a:rPr sz="1200"/>
            </a:br>
            <a:br>
              <a:rPr sz="1200"/>
            </a:br>
            <a:r>
              <a:rPr b="0" lang="en-US" sz="1200" spc="-1" strike="noStrike">
                <a:solidFill>
                  <a:srgbClr val="0f172a"/>
                </a:solidFill>
                <a:latin typeface="Arial"/>
              </a:rPr>
              <a:t>• Lọc so khớp chính xác (=, DTE)</a:t>
            </a:r>
            <a:br>
              <a:rPr sz="1200"/>
            </a:br>
            <a:r>
              <a:rPr b="0" lang="en-US" sz="1200" spc="-1" strike="noStrike">
                <a:solidFill>
                  <a:srgbClr val="0f172a"/>
                </a:solidFill>
                <a:latin typeface="Arial"/>
              </a:rPr>
              <a:t>• Tìm kiếm khoảng tuổi (ORE)</a:t>
            </a:r>
            <a:br>
              <a:rPr sz="1200"/>
            </a:br>
            <a:r>
              <a:rPr b="0" lang="en-US" sz="1200" spc="-1" strike="noStrike">
                <a:solidFill>
                  <a:srgbClr val="0f172a"/>
                </a:solidFill>
                <a:latin typeface="Arial"/>
              </a:rPr>
              <a:t>• Tính toán gộp nhạy cảm (SUM, AVG)</a:t>
            </a:r>
            <a:br>
              <a:rPr sz="1200"/>
            </a:br>
            <a:r>
              <a:rPr b="0" lang="en-US" sz="1200" spc="-1" strike="noStrike">
                <a:solidFill>
                  <a:srgbClr val="0f172a"/>
                </a:solidFill>
                <a:latin typeface="Arial"/>
              </a:rPr>
              <a:t>• Tìm kiếm triệu chứng lâm sàng bằng từ khóa (Static SSE index).</a:t>
            </a:r>
            <a:endParaRPr b="0" lang="en-US" sz="1200" spc="-1" strike="noStrike">
              <a:solidFill>
                <a:srgbClr val="000000"/>
              </a:solidFill>
              <a:latin typeface="Arial"/>
            </a:endParaRPr>
          </a:p>
        </p:txBody>
      </p:sp>
      <p:sp>
        <p:nvSpPr>
          <p:cNvPr id="78" name="Rounded Rectangle 6"/>
          <p:cNvSpPr/>
          <p:nvPr/>
        </p:nvSpPr>
        <p:spPr>
          <a:xfrm>
            <a:off x="8046720" y="1645920"/>
            <a:ext cx="3565800" cy="3657240"/>
          </a:xfrm>
          <a:prstGeom prst="roundRect">
            <a:avLst>
              <a:gd name="adj" fmla="val 16667"/>
            </a:avLst>
          </a:prstGeom>
          <a:solidFill>
            <a:srgbClr val="f1f5f9"/>
          </a:solidFill>
          <a:ln w="19050">
            <a:solidFill>
              <a:srgbClr val="10b98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10b981"/>
                </a:solidFill>
                <a:latin typeface="Segoe UI"/>
              </a:rPr>
              <a:t>3. Sẵn Sàng Tự Thích Ứng</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Khắc phục điểm yếu giới hạn dung lượng phần cứng bảo mật (EPC Enclave).</a:t>
            </a:r>
            <a:br>
              <a:rPr sz="1200"/>
            </a:br>
            <a:br>
              <a:rPr sz="1200"/>
            </a:br>
            <a:r>
              <a:rPr b="0" lang="en-US" sz="1200" spc="-1" strike="noStrike">
                <a:solidFill>
                  <a:srgbClr val="0f172a"/>
                </a:solidFill>
                <a:latin typeface="Arial"/>
              </a:rPr>
              <a:t>Tự động điều tiết tải và chuyển đổi định tuyến truy vấn linh hoạt (Fallback Mode) khi Enclave chịu áp lực tài nguyên lớn, đảm bảo hệ thống luôn sẵn sàng 24/7.</a:t>
            </a:r>
            <a:endParaRPr b="0" lang="en-US" sz="1200" spc="-1" strike="noStrike">
              <a:solidFill>
                <a:srgbClr val="000000"/>
              </a:solidFill>
              <a:latin typeface="Arial"/>
            </a:endParaRPr>
          </a:p>
        </p:txBody>
      </p:sp>
      <p:sp>
        <p:nvSpPr>
          <p:cNvPr id="79" name="TextBox 7"/>
          <p:cNvSpPr/>
          <p:nvPr/>
        </p:nvSpPr>
        <p:spPr>
          <a:xfrm>
            <a:off x="1768320" y="5577840"/>
            <a:ext cx="8651520" cy="30312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r>
              <a:rPr b="0" i="1" lang="en-US" sz="1400" spc="-1" strike="noStrike">
                <a:solidFill>
                  <a:srgbClr val="475569"/>
                </a:solidFill>
                <a:latin typeface="Segoe UI"/>
              </a:rPr>
              <a:t>"Đạt được sự cân bằng tối ưu giữa bảo mật dữ liệu y tế tuyệt đối và hiệu năng/tính sẵn sàng của hệ thống"</a:t>
            </a: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0" name="TextBox 1"/>
          <p:cNvSpPr/>
          <p:nvPr/>
        </p:nvSpPr>
        <p:spPr>
          <a:xfrm>
            <a:off x="548640" y="365760"/>
            <a:ext cx="9143640" cy="48816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Kiến Trúc Giải Pháp Lai Tự Thích Nghi</a:t>
            </a:r>
            <a:endParaRPr b="0" lang="en-US" sz="3200" spc="-1" strike="noStrike">
              <a:solidFill>
                <a:srgbClr val="000000"/>
              </a:solidFill>
              <a:latin typeface="Arial"/>
            </a:endParaRPr>
          </a:p>
        </p:txBody>
      </p:sp>
      <p:sp>
        <p:nvSpPr>
          <p:cNvPr id="81" name="TextBox 2"/>
          <p:cNvSpPr/>
          <p:nvPr/>
        </p:nvSpPr>
        <p:spPr>
          <a:xfrm>
            <a:off x="10615320" y="365760"/>
            <a:ext cx="8974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4 / 14</a:t>
            </a:r>
            <a:endParaRPr b="0" lang="en-US" sz="1100" spc="-1" strike="noStrike">
              <a:solidFill>
                <a:srgbClr val="000000"/>
              </a:solidFill>
              <a:latin typeface="Arial"/>
            </a:endParaRPr>
          </a:p>
        </p:txBody>
      </p:sp>
      <p:sp>
        <p:nvSpPr>
          <p:cNvPr id="82" name="Rounded Rectangle 4"/>
          <p:cNvSpPr/>
          <p:nvPr/>
        </p:nvSpPr>
        <p:spPr>
          <a:xfrm>
            <a:off x="548640" y="1371600"/>
            <a:ext cx="5303160" cy="4845960"/>
          </a:xfrm>
          <a:prstGeom prst="roundRect">
            <a:avLst>
              <a:gd name="adj" fmla="val 16667"/>
            </a:avLst>
          </a:prstGeom>
          <a:solidFill>
            <a:srgbClr val="f1f5f9"/>
          </a:solidFill>
          <a:ln w="19050">
            <a:solidFill>
              <a:srgbClr val="8b5cf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8b5cf6"/>
                </a:solidFill>
                <a:latin typeface="Segoe UI"/>
              </a:rPr>
              <a:t>Cơ Chế Định Tuyến Lai Hướng Toán Tử</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Software Mode (Xử lý trên Bản mã):</a:t>
            </a:r>
            <a:br>
              <a:rPr sz="1200"/>
            </a:br>
            <a:r>
              <a:rPr b="0" lang="en-US" sz="1200" spc="-1" strike="noStrike">
                <a:solidFill>
                  <a:srgbClr val="0f172a"/>
                </a:solidFill>
                <a:latin typeface="Arial"/>
              </a:rPr>
              <a:t>  Thực thi lọc và đếm cơ bản (=, range, COUNT) trực tiếp trên bản mã lưu tại MongoDB bằng mật mã học DTE và ORE.</a:t>
            </a:r>
            <a:br>
              <a:rPr sz="1200"/>
            </a:br>
            <a:r>
              <a:rPr b="0" lang="en-US" sz="1200" spc="-1" strike="noStrike">
                <a:solidFill>
                  <a:srgbClr val="0f172a"/>
                </a:solidFill>
                <a:latin typeface="Arial"/>
              </a:rPr>
              <a:t>  Máy chủ đám mây tính toán mà không cần biết nội dung plaintext.</a:t>
            </a:r>
            <a:br>
              <a:rPr sz="1200"/>
            </a:br>
            <a:br>
              <a:rPr sz="1200"/>
            </a:br>
            <a:r>
              <a:rPr b="0" lang="en-US" sz="1200" spc="-1" strike="noStrike">
                <a:solidFill>
                  <a:srgbClr val="0f172a"/>
                </a:solidFill>
                <a:latin typeface="Arial"/>
              </a:rPr>
              <a:t>• TEE Mode (Tính toán trong Enclave):</a:t>
            </a:r>
            <a:br>
              <a:rPr sz="1200"/>
            </a:br>
            <a:r>
              <a:rPr b="0" lang="en-US" sz="1200" spc="-1" strike="noStrike">
                <a:solidFill>
                  <a:srgbClr val="0f172a"/>
                </a:solidFill>
                <a:latin typeface="Arial"/>
              </a:rPr>
              <a:t>  Chuyển các toán tử nhạy cảm đòi hỏi giải mã (SUM, AVG, COUNT DISTINCT) vào vùng nhớ mã hóa phần cứng của Intel SGX Enclave để xử lý thông qua DuckDB in-memory.</a:t>
            </a:r>
            <a:br>
              <a:rPr sz="1200"/>
            </a:br>
            <a:br>
              <a:rPr sz="1200"/>
            </a:br>
            <a:r>
              <a:rPr b="0" lang="en-US" sz="1200" spc="-1" strike="noStrike">
                <a:solidFill>
                  <a:srgbClr val="0f172a"/>
                </a:solidFill>
                <a:latin typeface="Arial"/>
              </a:rPr>
              <a:t>• Adaptive Switching (Tự thích nghi):</a:t>
            </a:r>
            <a:br>
              <a:rPr sz="1200"/>
            </a:br>
            <a:r>
              <a:rPr b="0" lang="en-US" sz="1200" spc="-1" strike="noStrike">
                <a:solidFill>
                  <a:srgbClr val="0f172a"/>
                </a:solidFill>
                <a:latin typeface="Arial"/>
              </a:rPr>
              <a:t>  Router liên tục giám sát tải của Enclave. Nếu áp lực EPC bão hòa (&gt;=80%), Router tự động hạ cấp toán tử TEE về chạy ở chế độ Software Fallback để đảm bảo không bị nghẽn luồng dịch vụ.</a:t>
            </a:r>
            <a:endParaRPr b="0" lang="en-US" sz="1200" spc="-1" strike="noStrike">
              <a:solidFill>
                <a:srgbClr val="000000"/>
              </a:solidFill>
              <a:latin typeface="Arial"/>
            </a:endParaRPr>
          </a:p>
        </p:txBody>
      </p:sp>
      <p:sp>
        <p:nvSpPr>
          <p:cNvPr id="83" name="Rounded Rectangle 5"/>
          <p:cNvSpPr/>
          <p:nvPr/>
        </p:nvSpPr>
        <p:spPr>
          <a:xfrm>
            <a:off x="6217920" y="1371600"/>
            <a:ext cx="5394600" cy="4845960"/>
          </a:xfrm>
          <a:prstGeom prst="roundRect">
            <a:avLst>
              <a:gd name="adj" fmla="val 16667"/>
            </a:avLst>
          </a:prstGeom>
          <a:solidFill>
            <a:srgbClr val="f1f5f9"/>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06b6d4"/>
                </a:solidFill>
                <a:latin typeface="Segoe UI"/>
              </a:rPr>
              <a:t>Nguyên Lý Quyết Định Định Tuyến</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Giao diện Client gửi câu lệnh kèm JWT xác thực người dùng.</a:t>
            </a:r>
            <a:br>
              <a:rPr sz="1200"/>
            </a:br>
            <a:br>
              <a:rPr sz="1200"/>
            </a:br>
            <a:r>
              <a:rPr b="0" lang="en-US" sz="1200" spc="-1" strike="noStrike">
                <a:solidFill>
                  <a:srgbClr val="0f172a"/>
                </a:solidFill>
                <a:latin typeface="Arial"/>
              </a:rPr>
              <a:t>• Router phân tích toán tử:</a:t>
            </a:r>
            <a:br>
              <a:rPr sz="1200"/>
            </a:br>
            <a:r>
              <a:rPr b="0" lang="en-US" sz="1200" spc="-1" strike="noStrike">
                <a:solidFill>
                  <a:srgbClr val="0f172a"/>
                </a:solidFill>
                <a:latin typeface="Arial"/>
              </a:rPr>
              <a:t>  - Nếu là toán tử an toàn (COUNT, SEARCH, =):</a:t>
            </a:r>
            <a:br>
              <a:rPr sz="1200"/>
            </a:br>
            <a:r>
              <a:rPr b="0" lang="en-US" sz="1200" spc="-1" strike="noStrike">
                <a:solidFill>
                  <a:srgbClr val="0f172a"/>
                </a:solidFill>
                <a:latin typeface="Arial"/>
              </a:rPr>
              <a:t>    Định tuyến chạy Software Mode trên MongoDB ciphertext.</a:t>
            </a:r>
            <a:br>
              <a:rPr sz="1200"/>
            </a:br>
            <a:r>
              <a:rPr b="0" lang="en-US" sz="1200" spc="-1" strike="noStrike">
                <a:solidFill>
                  <a:srgbClr val="0f172a"/>
                </a:solidFill>
                <a:latin typeface="Arial"/>
              </a:rPr>
              <a:t>  - Nếu là toán tử thống kê nhạy cảm (SUM, AVG):</a:t>
            </a:r>
            <a:br>
              <a:rPr sz="1200"/>
            </a:br>
            <a:r>
              <a:rPr b="0" lang="en-US" sz="1200" spc="-1" strike="noStrike">
                <a:solidFill>
                  <a:srgbClr val="0f172a"/>
                </a:solidFill>
                <a:latin typeface="Arial"/>
              </a:rPr>
              <a:t>    Đọc trạng thái EPC Enclave:</a:t>
            </a:r>
            <a:br>
              <a:rPr sz="1200"/>
            </a:br>
            <a:r>
              <a:rPr b="0" lang="en-US" sz="1200" spc="-1" strike="noStrike">
                <a:solidFill>
                  <a:srgbClr val="0f172a"/>
                </a:solidFill>
                <a:latin typeface="Arial"/>
              </a:rPr>
              <a:t>      + Nếu EPC khả dụng (&lt;80%): Định tuyến TEE Mode.</a:t>
            </a:r>
            <a:br>
              <a:rPr sz="1200"/>
            </a:br>
            <a:r>
              <a:rPr b="0" lang="en-US" sz="1200" spc="-1" strike="noStrike">
                <a:solidFill>
                  <a:srgbClr val="0f172a"/>
                </a:solidFill>
                <a:latin typeface="Arial"/>
              </a:rPr>
              <a:t>      + Nếu EPC quá tải (&gt;=80%): Kích hoạt Software Fallback (giải mã an toàn cục bộ trên host bằng DEK).</a:t>
            </a:r>
            <a:br>
              <a:rPr sz="1200"/>
            </a:br>
            <a:br>
              <a:rPr sz="1200"/>
            </a:br>
            <a:r>
              <a:rPr b="0" lang="en-US" sz="1200" spc="-1" strike="noStrike">
                <a:solidFill>
                  <a:srgbClr val="0f172a"/>
                </a:solidFill>
                <a:latin typeface="Arial"/>
              </a:rPr>
              <a:t>• Kết quả trả về được Router lọc quyền RBAC/ABAC trước khi hiển thị lên trình duyệt của Client.</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4" name="TextBox 1"/>
          <p:cNvSpPr/>
          <p:nvPr/>
        </p:nvSpPr>
        <p:spPr>
          <a:xfrm>
            <a:off x="548640" y="365760"/>
            <a:ext cx="9143640" cy="975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Sơ Đồ Kiến Trúc Hệ Thống (Enc²Health Architecture)</a:t>
            </a:r>
            <a:endParaRPr b="0" lang="en-US" sz="3200" spc="-1" strike="noStrike">
              <a:solidFill>
                <a:srgbClr val="000000"/>
              </a:solidFill>
              <a:latin typeface="Arial"/>
            </a:endParaRPr>
          </a:p>
        </p:txBody>
      </p:sp>
      <p:sp>
        <p:nvSpPr>
          <p:cNvPr id="85" name="TextBox 2"/>
          <p:cNvSpPr/>
          <p:nvPr/>
        </p:nvSpPr>
        <p:spPr>
          <a:xfrm>
            <a:off x="10615320" y="365760"/>
            <a:ext cx="8974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5 / 14</a:t>
            </a:r>
            <a:endParaRPr b="0" lang="en-US" sz="1100" spc="-1" strike="noStrike">
              <a:solidFill>
                <a:srgbClr val="000000"/>
              </a:solidFill>
              <a:latin typeface="Arial"/>
            </a:endParaRPr>
          </a:p>
        </p:txBody>
      </p:sp>
      <p:sp>
        <p:nvSpPr>
          <p:cNvPr id="86" name="TextBox 5"/>
          <p:cNvSpPr/>
          <p:nvPr/>
        </p:nvSpPr>
        <p:spPr>
          <a:xfrm>
            <a:off x="2309400" y="5852160"/>
            <a:ext cx="7569360" cy="257400"/>
          </a:xfrm>
          <a:prstGeom prst="rect">
            <a:avLst/>
          </a:prstGeom>
          <a:noFill/>
          <a:ln w="0">
            <a:noFill/>
          </a:ln>
        </p:spPr>
        <p:style>
          <a:lnRef idx="0"/>
          <a:fillRef idx="0"/>
          <a:effectRef idx="0"/>
          <a:fontRef idx="minor"/>
        </p:style>
        <p:txBody>
          <a:bodyPr wrap="none" lIns="90000" rIns="90000" tIns="45000" bIns="45000" anchor="t">
            <a:spAutoFit/>
          </a:bodyPr>
          <a:p>
            <a:pPr algn="ctr" defTabSz="457200">
              <a:lnSpc>
                <a:spcPct val="100000"/>
              </a:lnSpc>
            </a:pPr>
            <a:endParaRPr b="0" lang="en-US" sz="1800" spc="-1" strike="noStrike">
              <a:solidFill>
                <a:srgbClr val="000000"/>
              </a:solidFill>
              <a:latin typeface="Arial"/>
            </a:endParaRPr>
          </a:p>
        </p:txBody>
      </p:sp>
      <p:pic>
        <p:nvPicPr>
          <p:cNvPr id="87" name="" descr=""/>
          <p:cNvPicPr/>
          <p:nvPr/>
        </p:nvPicPr>
        <p:blipFill>
          <a:blip r:embed="rId1"/>
          <a:stretch/>
        </p:blipFill>
        <p:spPr>
          <a:xfrm>
            <a:off x="2057400" y="1266840"/>
            <a:ext cx="7772400" cy="5562360"/>
          </a:xfrm>
          <a:prstGeom prst="rect">
            <a:avLst/>
          </a:prstGeom>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8" name="TextBox 1"/>
          <p:cNvSpPr/>
          <p:nvPr/>
        </p:nvSpPr>
        <p:spPr>
          <a:xfrm>
            <a:off x="548640" y="365760"/>
            <a:ext cx="9143640" cy="975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Tầng Mật Mã Học Chọn Lọc (Cryptographic Layers)</a:t>
            </a:r>
            <a:endParaRPr b="0" lang="en-US" sz="3200" spc="-1" strike="noStrike">
              <a:solidFill>
                <a:srgbClr val="000000"/>
              </a:solidFill>
              <a:latin typeface="Arial"/>
            </a:endParaRPr>
          </a:p>
        </p:txBody>
      </p:sp>
      <p:sp>
        <p:nvSpPr>
          <p:cNvPr id="89" name="TextBox 2"/>
          <p:cNvSpPr/>
          <p:nvPr/>
        </p:nvSpPr>
        <p:spPr>
          <a:xfrm>
            <a:off x="10615320" y="365760"/>
            <a:ext cx="8974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6 / 14</a:t>
            </a:r>
            <a:endParaRPr b="0" lang="en-US" sz="1100" spc="-1" strike="noStrike">
              <a:solidFill>
                <a:srgbClr val="000000"/>
              </a:solidFill>
              <a:latin typeface="Arial"/>
            </a:endParaRPr>
          </a:p>
        </p:txBody>
      </p:sp>
      <p:sp>
        <p:nvSpPr>
          <p:cNvPr id="90" name="Rounded Rectangle 4"/>
          <p:cNvSpPr/>
          <p:nvPr/>
        </p:nvSpPr>
        <p:spPr>
          <a:xfrm>
            <a:off x="548640" y="1371600"/>
            <a:ext cx="5303160" cy="4845960"/>
          </a:xfrm>
          <a:prstGeom prst="roundRect">
            <a:avLst>
              <a:gd name="adj" fmla="val 16667"/>
            </a:avLst>
          </a:prstGeom>
          <a:solidFill>
            <a:srgbClr val="f1f5f9"/>
          </a:solidFill>
          <a:ln w="19050">
            <a:solidFill>
              <a:srgbClr val="8b5cf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8b5cf6"/>
                </a:solidFill>
                <a:latin typeface="Segoe UI"/>
              </a:rPr>
              <a:t>1. Nhóm mật mã hóa chạy trên host (Software Mode)</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DTE (Deterministic Encryption - AES-SIV-256):</a:t>
            </a:r>
            <a:br>
              <a:rPr sz="1200"/>
            </a:br>
            <a:r>
              <a:rPr b="0" lang="en-US" sz="1200" spc="-1" strike="noStrike">
                <a:solidFill>
                  <a:srgbClr val="0f172a"/>
                </a:solidFill>
                <a:latin typeface="Arial"/>
              </a:rPr>
              <a:t>  - Mã hóa trường: ma_benh, khoa_phong, CCCD.</a:t>
            </a:r>
            <a:br>
              <a:rPr sz="1200"/>
            </a:br>
            <a:r>
              <a:rPr b="0" lang="en-US" sz="1200" spc="-1" strike="noStrike">
                <a:solidFill>
                  <a:srgbClr val="0f172a"/>
                </a:solidFill>
                <a:latin typeface="Arial"/>
              </a:rPr>
              <a:t>  - Tính chất: Cùng giá trị gốc cho ra cùng bản mã. Cho phép MongoDB xây dựng chỉ mục và tìm kiếm bằng chính xác trực tiếp.</a:t>
            </a:r>
            <a:br>
              <a:rPr sz="1200"/>
            </a:br>
            <a:br>
              <a:rPr sz="1200"/>
            </a:br>
            <a:r>
              <a:rPr b="0" lang="en-US" sz="1200" spc="-1" strike="noStrike">
                <a:solidFill>
                  <a:srgbClr val="0f172a"/>
                </a:solidFill>
                <a:latin typeface="Arial"/>
              </a:rPr>
              <a:t>• ORE/OPE (Order-Preserving - Boldyreva):</a:t>
            </a:r>
            <a:br>
              <a:rPr sz="1200"/>
            </a:br>
            <a:r>
              <a:rPr b="0" lang="en-US" sz="1200" spc="-1" strike="noStrike">
                <a:solidFill>
                  <a:srgbClr val="0f172a"/>
                </a:solidFill>
                <a:latin typeface="Arial"/>
              </a:rPr>
              <a:t>  - Mã hóa trường: tuoi, ngay_nhap_vien.</a:t>
            </a:r>
            <a:br>
              <a:rPr sz="1200"/>
            </a:br>
            <a:r>
              <a:rPr b="0" lang="en-US" sz="1200" spc="-1" strike="noStrike">
                <a:solidFill>
                  <a:srgbClr val="0f172a"/>
                </a:solidFill>
                <a:latin typeface="Arial"/>
              </a:rPr>
              <a:t>  - Tính chất: Bảo toàn thứ tự toán học của plaintext. Cho phép tìm kiếm khoảng (&gt;, &lt;, between) và lập chỉ mục cây B-Tree.</a:t>
            </a:r>
            <a:br>
              <a:rPr sz="1200"/>
            </a:br>
            <a:br>
              <a:rPr sz="1200"/>
            </a:br>
            <a:r>
              <a:rPr b="0" lang="en-US" sz="1200" spc="-1" strike="noStrike">
                <a:solidFill>
                  <a:srgbClr val="0f172a"/>
                </a:solidFill>
                <a:latin typeface="Arial"/>
              </a:rPr>
              <a:t>• Static SSE (Searchable Symmetric Encryption):</a:t>
            </a:r>
            <a:br>
              <a:rPr sz="1200"/>
            </a:br>
            <a:r>
              <a:rPr b="0" lang="en-US" sz="1200" spc="-1" strike="noStrike">
                <a:solidFill>
                  <a:srgbClr val="0f172a"/>
                </a:solidFill>
                <a:latin typeface="Arial"/>
              </a:rPr>
              <a:t>  - Mã hóa trường: triệu chứng lâm sàng dạng văn bản dài.</a:t>
            </a:r>
            <a:br>
              <a:rPr sz="1200"/>
            </a:br>
            <a:r>
              <a:rPr b="0" lang="en-US" sz="1200" spc="-1" strike="noStrike">
                <a:solidFill>
                  <a:srgbClr val="0f172a"/>
                </a:solidFill>
                <a:latin typeface="Arial"/>
              </a:rPr>
              <a:t>  - Tính chất: Dùng HMAC băm từ khóa + postings mã hóa AES-GCM.</a:t>
            </a:r>
            <a:endParaRPr b="0" lang="en-US" sz="1200" spc="-1" strike="noStrike">
              <a:solidFill>
                <a:srgbClr val="000000"/>
              </a:solidFill>
              <a:latin typeface="Arial"/>
            </a:endParaRPr>
          </a:p>
        </p:txBody>
      </p:sp>
      <p:sp>
        <p:nvSpPr>
          <p:cNvPr id="91" name="Rounded Rectangle 5"/>
          <p:cNvSpPr/>
          <p:nvPr/>
        </p:nvSpPr>
        <p:spPr>
          <a:xfrm>
            <a:off x="6217920" y="1371600"/>
            <a:ext cx="5394600" cy="4845960"/>
          </a:xfrm>
          <a:prstGeom prst="roundRect">
            <a:avLst>
              <a:gd name="adj" fmla="val 16667"/>
            </a:avLst>
          </a:prstGeom>
          <a:solidFill>
            <a:srgbClr val="f1f5f9"/>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06b6d4"/>
                </a:solidFill>
                <a:latin typeface="Segoe UI"/>
              </a:rPr>
              <a:t>2. Nhóm mật mã hóa an toàn (TEE Mode / KMS)</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AES-GCM-256 (Mã hóa đối xứng ngẫu nhiên):</a:t>
            </a:r>
            <a:br>
              <a:rPr sz="1200"/>
            </a:br>
            <a:r>
              <a:rPr b="0" lang="en-US" sz="1200" spc="-1" strike="noStrike">
                <a:solidFill>
                  <a:srgbClr val="0f172a"/>
                </a:solidFill>
                <a:latin typeface="Arial"/>
              </a:rPr>
              <a:t>  - Mã hóa trường: vien_phi, ket_qua_xet_nghiem.</a:t>
            </a:r>
            <a:br>
              <a:rPr sz="1200"/>
            </a:br>
            <a:r>
              <a:rPr b="0" lang="en-US" sz="1200" spc="-1" strike="noStrike">
                <a:solidFill>
                  <a:srgbClr val="0f172a"/>
                </a:solidFill>
                <a:latin typeface="Arial"/>
              </a:rPr>
              <a:t>  - Tính chất: Bản mã ngẫu nhiên tuyệt đối, tích hợp xác thực toàn vẹn AEAD. Dữ liệu y tế tối mật chỉ được giải mã và tính toán gộp (DuckDB) bên trong Enclave TEE.</a:t>
            </a:r>
            <a:br>
              <a:rPr sz="1200"/>
            </a:br>
            <a:br>
              <a:rPr sz="1200"/>
            </a:br>
            <a:r>
              <a:rPr b="0" lang="en-US" sz="1200" spc="-1" strike="noStrike">
                <a:solidFill>
                  <a:srgbClr val="0f172a"/>
                </a:solidFill>
                <a:latin typeface="Arial"/>
              </a:rPr>
              <a:t>• ECC ECIES P-384 (Mã hóa bất đối xứng):</a:t>
            </a:r>
            <a:br>
              <a:rPr sz="1200"/>
            </a:br>
            <a:r>
              <a:rPr b="0" lang="en-US" sz="1200" spc="-1" strike="noStrike">
                <a:solidFill>
                  <a:srgbClr val="0f172a"/>
                </a:solidFill>
                <a:latin typeface="Arial"/>
              </a:rPr>
              <a:t>  - Mã hóa trường: pii_enc (Họ tên, CCCD, Bệnh án chi tiết).</a:t>
            </a:r>
            <a:br>
              <a:rPr sz="1200"/>
            </a:br>
            <a:r>
              <a:rPr b="0" lang="en-US" sz="1200" spc="-1" strike="noStrike">
                <a:solidFill>
                  <a:srgbClr val="0f172a"/>
                </a:solidFill>
                <a:latin typeface="Arial"/>
              </a:rPr>
              <a:t>  - Tính chất: Phía Client mã hóa bằng Public Key của từng khoa. Private Key chỉ được nạp từ Vault vào Enclave TEE để giải mã.</a:t>
            </a:r>
            <a:br>
              <a:rPr sz="1200"/>
            </a:br>
            <a:br>
              <a:rPr sz="1200"/>
            </a:br>
            <a:r>
              <a:rPr b="0" lang="en-US" sz="1200" spc="-1" strike="noStrike">
                <a:solidFill>
                  <a:srgbClr val="0f172a"/>
                </a:solidFill>
                <a:latin typeface="Arial"/>
              </a:rPr>
              <a:t>• Envelope Encryption (Mã hóa phong bì):</a:t>
            </a:r>
            <a:br>
              <a:rPr sz="1200"/>
            </a:br>
            <a:r>
              <a:rPr b="0" lang="en-US" sz="1200" spc="-1" strike="noStrike">
                <a:solidFill>
                  <a:srgbClr val="0f172a"/>
                </a:solidFill>
                <a:latin typeface="Arial"/>
              </a:rPr>
              <a:t>  - Khóa DEK (gcm_dek) được mã hóa bọc bởi Master Key trong HashiCorp Vault KV-v2 và chỉ giải bọc về RAM Enclave.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2" name="TextBox 1"/>
          <p:cNvSpPr/>
          <p:nvPr/>
        </p:nvSpPr>
        <p:spPr>
          <a:xfrm>
            <a:off x="548640" y="365760"/>
            <a:ext cx="9143640" cy="975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Cơ Chế Tự Thích Nghi &amp; Hysteresis (Adaptive Logic)</a:t>
            </a:r>
            <a:endParaRPr b="0" lang="en-US" sz="3200" spc="-1" strike="noStrike">
              <a:solidFill>
                <a:srgbClr val="000000"/>
              </a:solidFill>
              <a:latin typeface="Arial"/>
            </a:endParaRPr>
          </a:p>
        </p:txBody>
      </p:sp>
      <p:sp>
        <p:nvSpPr>
          <p:cNvPr id="93" name="TextBox 2"/>
          <p:cNvSpPr/>
          <p:nvPr/>
        </p:nvSpPr>
        <p:spPr>
          <a:xfrm>
            <a:off x="10615320" y="365760"/>
            <a:ext cx="8974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7 / 14</a:t>
            </a:r>
            <a:endParaRPr b="0" lang="en-US" sz="1100" spc="-1" strike="noStrike">
              <a:solidFill>
                <a:srgbClr val="000000"/>
              </a:solidFill>
              <a:latin typeface="Arial"/>
            </a:endParaRPr>
          </a:p>
        </p:txBody>
      </p:sp>
      <p:sp>
        <p:nvSpPr>
          <p:cNvPr id="94" name="Rounded Rectangle 4"/>
          <p:cNvSpPr/>
          <p:nvPr/>
        </p:nvSpPr>
        <p:spPr>
          <a:xfrm>
            <a:off x="548640" y="1371600"/>
            <a:ext cx="5303160" cy="4845960"/>
          </a:xfrm>
          <a:prstGeom prst="roundRect">
            <a:avLst>
              <a:gd name="adj" fmla="val 16667"/>
            </a:avLst>
          </a:prstGeom>
          <a:solidFill>
            <a:srgbClr val="f1f5f9"/>
          </a:solidFill>
          <a:ln w="19050">
            <a:solidFill>
              <a:srgbClr val="e11d4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e11d48"/>
                </a:solidFill>
                <a:latin typeface="Segoe UI"/>
              </a:rPr>
              <a:t>EPC Saturation &amp; Fallback Hysteresis</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Vấn đề dao động liên tục (Flapping):</a:t>
            </a:r>
            <a:br>
              <a:rPr sz="1200"/>
            </a:br>
            <a:r>
              <a:rPr b="0" lang="en-US" sz="1200" spc="-1" strike="noStrike">
                <a:solidFill>
                  <a:srgbClr val="0f172a"/>
                </a:solidFill>
                <a:latin typeface="Arial"/>
              </a:rPr>
              <a:t>  Nếu chỉ dùng một ngưỡng duy nhất (ví dụ 80% áp lực bộ nhớ) để chuyển đổi trạng thái, khi tải dao động nhẹ quanh mức 80%, hệ thống sẽ liên tục bật/tắt chế độ fallback. Việc này làm mất ổn định hệ thống.</a:t>
            </a:r>
            <a:br>
              <a:rPr sz="1200"/>
            </a:br>
            <a:br>
              <a:rPr sz="1200"/>
            </a:br>
            <a:r>
              <a:rPr b="0" lang="en-US" sz="1200" spc="-1" strike="noStrike">
                <a:solidFill>
                  <a:srgbClr val="0f172a"/>
                </a:solidFill>
                <a:latin typeface="Arial"/>
              </a:rPr>
              <a:t>• Giải pháp Hysteresis (Vùng trễ hai ngưỡng):</a:t>
            </a:r>
            <a:br>
              <a:rPr sz="1200"/>
            </a:br>
            <a:r>
              <a:rPr b="0" lang="en-US" sz="1200" spc="-1" strike="noStrike">
                <a:solidFill>
                  <a:srgbClr val="0f172a"/>
                </a:solidFill>
                <a:latin typeface="Arial"/>
              </a:rPr>
              <a:t>  - Ngưỡng Kích hoạt Fallback: EPC Pressure &gt;= 80%.</a:t>
            </a:r>
            <a:br>
              <a:rPr sz="1200"/>
            </a:br>
            <a:r>
              <a:rPr b="0" lang="en-US" sz="1200" spc="-1" strike="noStrike">
                <a:solidFill>
                  <a:srgbClr val="0f172a"/>
                </a:solidFill>
                <a:latin typeface="Arial"/>
              </a:rPr>
              <a:t>  - Ngưỡng Khôi phục TEE: EPC Pressure &lt;= 60%.</a:t>
            </a:r>
            <a:br>
              <a:rPr sz="1200"/>
            </a:br>
            <a:r>
              <a:rPr b="0" lang="en-US" sz="1200" spc="-1" strike="noStrike">
                <a:solidFill>
                  <a:srgbClr val="0f172a"/>
                </a:solidFill>
                <a:latin typeface="Arial"/>
              </a:rPr>
              <a:t>  - Vùng trễ (60% - 80%): Giữ nguyên chế độ hoạt động hiện tại để đảm bảo trạng thái hệ thống ổn định lâu dài.</a:t>
            </a:r>
            <a:br>
              <a:rPr sz="1200"/>
            </a:br>
            <a:br>
              <a:rPr sz="1200"/>
            </a:br>
            <a:r>
              <a:rPr b="0" lang="en-US" sz="1200" spc="-1" strike="noStrike">
                <a:solidFill>
                  <a:srgbClr val="0f172a"/>
                </a:solidFill>
                <a:latin typeface="Arial"/>
              </a:rPr>
              <a:t>• Software Fallback:</a:t>
            </a:r>
            <a:br>
              <a:rPr sz="1200"/>
            </a:br>
            <a:r>
              <a:rPr b="0" lang="en-US" sz="1200" spc="-1" strike="noStrike">
                <a:solidFill>
                  <a:srgbClr val="0f172a"/>
                </a:solidFill>
                <a:latin typeface="Arial"/>
              </a:rPr>
              <a:t>  Khi quá tải, Router tạm thời giải mã bằng khóa cục bộ trên RAM host để xử lý phép tính, ưu tiên tính sẵn sàng (Availability) của bệnh viện.</a:t>
            </a:r>
            <a:endParaRPr b="0" lang="en-US" sz="1200" spc="-1" strike="noStrike">
              <a:solidFill>
                <a:srgbClr val="000000"/>
              </a:solidFill>
              <a:latin typeface="Arial"/>
            </a:endParaRPr>
          </a:p>
        </p:txBody>
      </p:sp>
      <p:sp>
        <p:nvSpPr>
          <p:cNvPr id="95" name="Rounded Rectangle 5"/>
          <p:cNvSpPr/>
          <p:nvPr/>
        </p:nvSpPr>
        <p:spPr>
          <a:xfrm>
            <a:off x="6217920" y="1371600"/>
            <a:ext cx="5394600" cy="4845960"/>
          </a:xfrm>
          <a:prstGeom prst="roundRect">
            <a:avLst>
              <a:gd name="adj" fmla="val 16667"/>
            </a:avLst>
          </a:prstGeom>
          <a:solidFill>
            <a:srgbClr val="f1f5f9"/>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06b6d4"/>
                </a:solidFill>
                <a:latin typeface="Segoe UI"/>
              </a:rPr>
              <a:t>Cơ Chế Giám Sát Chủ Động (EPC Prober)</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Hoạt động định kỳ:</a:t>
            </a:r>
            <a:br>
              <a:rPr sz="1200"/>
            </a:br>
            <a:r>
              <a:rPr b="0" lang="en-US" sz="1200" spc="-1" strike="noStrike">
                <a:solidFill>
                  <a:srgbClr val="0f172a"/>
                </a:solidFill>
                <a:latin typeface="Arial"/>
              </a:rPr>
              <a:t>  Một luồng chạy nền trong Router gửi truy vấn COUNT nhỏ đến Enclave Pool mỗi 5 giây để đo độ trễ latency.</a:t>
            </a:r>
            <a:br>
              <a:rPr sz="1200"/>
            </a:br>
            <a:br>
              <a:rPr sz="1200"/>
            </a:br>
            <a:r>
              <a:rPr b="0" lang="en-US" sz="1200" spc="-1" strike="noStrike">
                <a:solidFill>
                  <a:srgbClr val="0f172a"/>
                </a:solidFill>
                <a:latin typeface="Arial"/>
              </a:rPr>
              <a:t>• Khóa baseline tự động:</a:t>
            </a:r>
            <a:br>
              <a:rPr sz="1200"/>
            </a:br>
            <a:r>
              <a:rPr b="0" lang="en-US" sz="1200" spc="-1" strike="noStrike">
                <a:solidFill>
                  <a:srgbClr val="0f172a"/>
                </a:solidFill>
                <a:latin typeface="Arial"/>
              </a:rPr>
              <a:t>  Trong 3 lần chạy đầu tiên ở trạng thái rảnh rỗi, hệ thống tính toán và khóa lại giá trị Baseline Latency làm đường cơ sở.</a:t>
            </a:r>
            <a:br>
              <a:rPr sz="1200"/>
            </a:br>
            <a:br>
              <a:rPr sz="1200"/>
            </a:br>
            <a:r>
              <a:rPr b="0" lang="en-US" sz="1200" spc="-1" strike="noStrike">
                <a:solidFill>
                  <a:srgbClr val="0f172a"/>
                </a:solidFill>
                <a:latin typeface="Arial"/>
              </a:rPr>
              <a:t>• Phát hiện bão hòa:</a:t>
            </a:r>
            <a:br>
              <a:rPr sz="1200"/>
            </a:br>
            <a:r>
              <a:rPr b="0" lang="en-US" sz="1200" spc="-1" strike="noStrike">
                <a:solidFill>
                  <a:srgbClr val="0f172a"/>
                </a:solidFill>
                <a:latin typeface="Arial"/>
              </a:rPr>
              <a:t>  Nếu latency phép thử tăng gấp đôi so với Baseline (latency ratio &gt;= 2.0), prober xác định EPC đang bão hòa.</a:t>
            </a:r>
            <a:br>
              <a:rPr sz="1200"/>
            </a:br>
            <a:br>
              <a:rPr sz="1200"/>
            </a:br>
            <a:r>
              <a:rPr b="0" lang="en-US" sz="1200" spc="-1" strike="noStrike">
                <a:solidFill>
                  <a:srgbClr val="0f172a"/>
                </a:solidFill>
                <a:latin typeface="Arial"/>
              </a:rPr>
              <a:t>• Kết hợp số liệu thực tế:</a:t>
            </a:r>
            <a:br>
              <a:rPr sz="1200"/>
            </a:br>
            <a:r>
              <a:rPr b="0" lang="en-US" sz="1200" spc="-1" strike="noStrike">
                <a:solidFill>
                  <a:srgbClr val="0f172a"/>
                </a:solidFill>
                <a:latin typeface="Arial"/>
              </a:rPr>
              <a:t>  Router lấy thông số bộ nhớ RSS thực tế của tiến trình Pool qua đường dẫn hệ thống /proc/&lt;pid&gt;/status để làm căn cứ chính xác nhất.</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6" name="TextBox 1"/>
          <p:cNvSpPr/>
          <p:nvPr/>
        </p:nvSpPr>
        <p:spPr>
          <a:xfrm>
            <a:off x="548640" y="365760"/>
            <a:ext cx="9143640" cy="975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Phân Quyền &amp; Kiểm Soát Truy Cập ABAC / RBAC</a:t>
            </a:r>
            <a:endParaRPr b="0" lang="en-US" sz="3200" spc="-1" strike="noStrike">
              <a:solidFill>
                <a:srgbClr val="000000"/>
              </a:solidFill>
              <a:latin typeface="Arial"/>
            </a:endParaRPr>
          </a:p>
        </p:txBody>
      </p:sp>
      <p:sp>
        <p:nvSpPr>
          <p:cNvPr id="97" name="TextBox 2"/>
          <p:cNvSpPr/>
          <p:nvPr/>
        </p:nvSpPr>
        <p:spPr>
          <a:xfrm>
            <a:off x="10615320" y="365760"/>
            <a:ext cx="8974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8 / 14</a:t>
            </a:r>
            <a:endParaRPr b="0" lang="en-US" sz="1100" spc="-1" strike="noStrike">
              <a:solidFill>
                <a:srgbClr val="000000"/>
              </a:solidFill>
              <a:latin typeface="Arial"/>
            </a:endParaRPr>
          </a:p>
        </p:txBody>
      </p:sp>
      <p:sp>
        <p:nvSpPr>
          <p:cNvPr id="98" name="Rounded Rectangle 4"/>
          <p:cNvSpPr/>
          <p:nvPr/>
        </p:nvSpPr>
        <p:spPr>
          <a:xfrm>
            <a:off x="548640" y="1371600"/>
            <a:ext cx="5303160" cy="4845960"/>
          </a:xfrm>
          <a:prstGeom prst="roundRect">
            <a:avLst>
              <a:gd name="adj" fmla="val 16667"/>
            </a:avLst>
          </a:prstGeom>
          <a:solidFill>
            <a:srgbClr val="f1f5f9"/>
          </a:solidFill>
          <a:ln w="19050">
            <a:solidFill>
              <a:srgbClr val="8b5cf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8b5cf6"/>
                </a:solidFill>
                <a:latin typeface="Segoe UI"/>
              </a:rPr>
              <a:t>RBAC: Phân quyền theo Cột (Column-Level)</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Hệ thống kiểm tra JWT HS256 gửi kèm từ phía Client để phân loại vai trò và che giấu trường thông tin nhạy cảm:</a:t>
            </a:r>
            <a:br>
              <a:rPr sz="1200"/>
            </a:br>
            <a:br>
              <a:rPr sz="1200"/>
            </a:br>
            <a:r>
              <a:rPr b="0" lang="en-US" sz="1200" spc="-1" strike="noStrike">
                <a:solidFill>
                  <a:srgbClr val="0f172a"/>
                </a:solidFill>
                <a:latin typeface="Arial"/>
              </a:rPr>
              <a:t>• Bác sĩ (doctor) &amp; Quản trị (admin):</a:t>
            </a:r>
            <a:br>
              <a:rPr sz="1200"/>
            </a:br>
            <a:r>
              <a:rPr b="0" lang="en-US" sz="1200" spc="-1" strike="noStrike">
                <a:solidFill>
                  <a:srgbClr val="0f172a"/>
                </a:solidFill>
                <a:latin typeface="Arial"/>
              </a:rPr>
              <a:t>  Được quyền xem đầy đủ thông tin bệnh án và phác đồ điều trị sau khi Enclave giải mã.</a:t>
            </a:r>
            <a:br>
              <a:rPr sz="1200"/>
            </a:br>
            <a:br>
              <a:rPr sz="1200"/>
            </a:br>
            <a:r>
              <a:rPr b="0" lang="en-US" sz="1200" spc="-1" strike="noStrike">
                <a:solidFill>
                  <a:srgbClr val="0f172a"/>
                </a:solidFill>
                <a:latin typeface="Arial"/>
              </a:rPr>
              <a:t>• Nhân viên hành chính (admin_staff):</a:t>
            </a:r>
            <a:br>
              <a:rPr sz="1200"/>
            </a:br>
            <a:r>
              <a:rPr b="0" lang="en-US" sz="1200" spc="-1" strike="noStrike">
                <a:solidFill>
                  <a:srgbClr val="0f172a"/>
                </a:solidFill>
                <a:latin typeface="Arial"/>
              </a:rPr>
              <a:t>  Làm thủ tục tiếp đón, được xem thông tin cá nhân plaintext (Họ tên, CCCD, địa chỉ, ngày sinh) nhưng hai trường lâm sàng nhạy cảm bị che giấu cứng thành [MASKED] (Tránh lộ thông tin bệnh án).</a:t>
            </a:r>
            <a:br>
              <a:rPr sz="1200"/>
            </a:br>
            <a:br>
              <a:rPr sz="1200"/>
            </a:br>
            <a:r>
              <a:rPr b="0" lang="en-US" sz="1200" spc="-1" strike="noStrike">
                <a:solidFill>
                  <a:srgbClr val="0f172a"/>
                </a:solidFill>
                <a:latin typeface="Arial"/>
              </a:rPr>
              <a:t>• Nhà nghiên cứu (researcher):</a:t>
            </a:r>
            <a:br>
              <a:rPr sz="1200"/>
            </a:br>
            <a:r>
              <a:rPr b="0" lang="en-US" sz="1200" spc="-1" strike="noStrike">
                <a:solidFill>
                  <a:srgbClr val="0f172a"/>
                </a:solidFill>
                <a:latin typeface="Arial"/>
              </a:rPr>
              <a:t>  Chỉ được thống kê gộp, các trường viện phí và mã bệnh bị che giấu thành [MASKED] để bảo vệ thông tin.</a:t>
            </a:r>
            <a:endParaRPr b="0" lang="en-US" sz="1200" spc="-1" strike="noStrike">
              <a:solidFill>
                <a:srgbClr val="000000"/>
              </a:solidFill>
              <a:latin typeface="Arial"/>
            </a:endParaRPr>
          </a:p>
        </p:txBody>
      </p:sp>
      <p:sp>
        <p:nvSpPr>
          <p:cNvPr id="99" name="Rounded Rectangle 5"/>
          <p:cNvSpPr/>
          <p:nvPr/>
        </p:nvSpPr>
        <p:spPr>
          <a:xfrm>
            <a:off x="6217920" y="1371600"/>
            <a:ext cx="5394600" cy="4845960"/>
          </a:xfrm>
          <a:prstGeom prst="roundRect">
            <a:avLst>
              <a:gd name="adj" fmla="val 16667"/>
            </a:avLst>
          </a:prstGeom>
          <a:solidFill>
            <a:srgbClr val="f1f5f9"/>
          </a:solidFill>
          <a:ln w="19050">
            <a:solidFill>
              <a:srgbClr val="10b98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10b981"/>
                </a:solidFill>
                <a:latin typeface="Segoe UI"/>
              </a:rPr>
              <a:t>ABAC: Giới Hạn Khoa Phòng (Dept-Scoping)</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Ngăn chặn việc truy cập ngang trái phép hồ sơ bệnh án giữa các khoa phòng y tế:</a:t>
            </a:r>
            <a:br>
              <a:rPr sz="1200"/>
            </a:br>
            <a:br>
              <a:rPr sz="1200"/>
            </a:br>
            <a:r>
              <a:rPr b="0" lang="en-US" sz="1200" spc="-1" strike="noStrike">
                <a:solidFill>
                  <a:srgbClr val="0f172a"/>
                </a:solidFill>
                <a:latin typeface="Arial"/>
              </a:rPr>
              <a:t>• Chính sách: Bác sĩ điều trị thuộc khoa nào chỉ được truy vấn thông tin của bệnh nhân thuộc khoa đó.</a:t>
            </a:r>
            <a:br>
              <a:rPr sz="1200"/>
            </a:br>
            <a:br>
              <a:rPr sz="1200"/>
            </a:br>
            <a:r>
              <a:rPr b="0" lang="en-US" sz="1200" spc="-1" strike="noStrike">
                <a:solidFill>
                  <a:srgbClr val="0f172a"/>
                </a:solidFill>
                <a:latin typeface="Arial"/>
              </a:rPr>
              <a:t>• Cơ chế Zero-Trust Client:</a:t>
            </a:r>
            <a:br>
              <a:rPr sz="1200"/>
            </a:br>
            <a:r>
              <a:rPr b="0" lang="en-US" sz="1200" spc="-1" strike="noStrike">
                <a:solidFill>
                  <a:srgbClr val="0f172a"/>
                </a:solidFill>
                <a:latin typeface="Arial"/>
              </a:rPr>
              <a:t>  - Router trích xuất thuộc tính bộ phận (dept) từ các claims của chữ ký JWT.</a:t>
            </a:r>
            <a:br>
              <a:rPr sz="1200"/>
            </a:br>
            <a:r>
              <a:rPr b="0" lang="en-US" sz="1200" spc="-1" strike="noStrike">
                <a:solidFill>
                  <a:srgbClr val="0f172a"/>
                </a:solidFill>
                <a:latin typeface="Arial"/>
              </a:rPr>
              <a:t>  - Router tự động mã hóa giá trị khoa bằng DTE khoa và tiêm filter khoa phòng bắt buộc vào truy vấn gửi lên MongoDB.</a:t>
            </a:r>
            <a:br>
              <a:rPr sz="1200"/>
            </a:br>
            <a:r>
              <a:rPr b="0" lang="en-US" sz="1200" spc="-1" strike="noStrike">
                <a:solidFill>
                  <a:srgbClr val="0f172a"/>
                </a:solidFill>
                <a:latin typeface="Arial"/>
              </a:rPr>
              <a:t>  - Client không thể can thiệp hay xóa bỏ filter khoa phòng y tế này.</a:t>
            </a:r>
            <a:br>
              <a:rPr sz="1200"/>
            </a:br>
            <a:r>
              <a:rPr b="0" lang="en-US" sz="1200" spc="-1" strike="noStrike">
                <a:solidFill>
                  <a:srgbClr val="0f172a"/>
                </a:solidFill>
                <a:latin typeface="Arial"/>
              </a:rPr>
              <a:t>  - Phản ứng: Nếu bác sĩ cố tình sửa ID bệnh nhân khoa khác để tra cứu, Router kiểm tra thuộc tính khoa phòng và trả về 403 Forbidden.</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0" name="TextBox 1"/>
          <p:cNvSpPr/>
          <p:nvPr/>
        </p:nvSpPr>
        <p:spPr>
          <a:xfrm>
            <a:off x="548640" y="365760"/>
            <a:ext cx="9143640" cy="975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Phương Án Triển Khai (Deployment Strategy)</a:t>
            </a:r>
            <a:endParaRPr b="0" lang="en-US" sz="3200" spc="-1" strike="noStrike">
              <a:solidFill>
                <a:srgbClr val="000000"/>
              </a:solidFill>
              <a:latin typeface="Arial"/>
            </a:endParaRPr>
          </a:p>
        </p:txBody>
      </p:sp>
      <p:sp>
        <p:nvSpPr>
          <p:cNvPr id="101" name="TextBox 2"/>
          <p:cNvSpPr/>
          <p:nvPr/>
        </p:nvSpPr>
        <p:spPr>
          <a:xfrm>
            <a:off x="10615320" y="365760"/>
            <a:ext cx="8974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9 / 14</a:t>
            </a:r>
            <a:endParaRPr b="0" lang="en-US" sz="1100" spc="-1" strike="noStrike">
              <a:solidFill>
                <a:srgbClr val="000000"/>
              </a:solidFill>
              <a:latin typeface="Arial"/>
            </a:endParaRPr>
          </a:p>
        </p:txBody>
      </p:sp>
      <p:sp>
        <p:nvSpPr>
          <p:cNvPr id="102" name="Rounded Rectangle 4"/>
          <p:cNvSpPr/>
          <p:nvPr/>
        </p:nvSpPr>
        <p:spPr>
          <a:xfrm>
            <a:off x="548640" y="1371600"/>
            <a:ext cx="5303160" cy="4845960"/>
          </a:xfrm>
          <a:prstGeom prst="roundRect">
            <a:avLst>
              <a:gd name="adj" fmla="val 16667"/>
            </a:avLst>
          </a:prstGeom>
          <a:solidFill>
            <a:srgbClr val="f1f5f9"/>
          </a:solidFill>
          <a:ln w="19050">
            <a:solidFill>
              <a:srgbClr val="8b5cf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8b5cf6"/>
                </a:solidFill>
                <a:latin typeface="Segoe UI"/>
              </a:rPr>
              <a:t>Tích Hợp TEE Gramine &amp; HashiCorp Vault</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Đóng gói Gramine LibOS:</a:t>
            </a:r>
            <a:br>
              <a:rPr sz="1200"/>
            </a:br>
            <a:r>
              <a:rPr b="0" lang="en-US" sz="1200" spc="-1" strike="noStrike">
                <a:solidFill>
                  <a:srgbClr val="0f172a"/>
                </a:solidFill>
                <a:latin typeface="Arial"/>
              </a:rPr>
              <a:t>  - Xây dựng manifest cho DuckDB và runtime Python.</a:t>
            </a:r>
            <a:br>
              <a:rPr sz="1200"/>
            </a:br>
            <a:r>
              <a:rPr b="0" lang="en-US" sz="1200" spc="-1" strike="noStrike">
                <a:solidFill>
                  <a:srgbClr val="0f172a"/>
                </a:solidFill>
                <a:latin typeface="Arial"/>
              </a:rPr>
              <a:t>  - Đo lường dung lượng RAM tối thiểu (128MB) và ký số MRENCLAVE cho các tệp tin cấu trúc tin cậy.</a:t>
            </a:r>
            <a:br>
              <a:rPr sz="1200"/>
            </a:br>
            <a:r>
              <a:rPr b="0" lang="en-US" sz="1200" spc="-1" strike="noStrike">
                <a:solidFill>
                  <a:srgbClr val="0f172a"/>
                </a:solidFill>
                <a:latin typeface="Arial"/>
              </a:rPr>
              <a:t>  - DuckDB chạy trực tiếp trong TEE mà không cần sửa đổi mã nguồn C/C++.</a:t>
            </a:r>
            <a:br>
              <a:rPr sz="1200"/>
            </a:br>
            <a:br>
              <a:rPr sz="1200"/>
            </a:br>
            <a:r>
              <a:rPr b="0" lang="en-US" sz="1200" spc="-1" strike="noStrike">
                <a:solidFill>
                  <a:srgbClr val="0f172a"/>
                </a:solidFill>
                <a:latin typeface="Arial"/>
              </a:rPr>
              <a:t>• Bảo mật KMS qua Vault AppRole:</a:t>
            </a:r>
            <a:br>
              <a:rPr sz="1200"/>
            </a:br>
            <a:r>
              <a:rPr b="0" lang="en-US" sz="1200" spc="-1" strike="noStrike">
                <a:solidFill>
                  <a:srgbClr val="0f172a"/>
                </a:solidFill>
                <a:latin typeface="Arial"/>
              </a:rPr>
              <a:t>  - Khi Enclave startup, gửi yêu cầu chứng thực lấy token tạm thời từ Vault thông qua Role_ID và Secret_ID.</a:t>
            </a:r>
            <a:br>
              <a:rPr sz="1200"/>
            </a:br>
            <a:r>
              <a:rPr b="0" lang="en-US" sz="1200" spc="-1" strike="noStrike">
                <a:solidFill>
                  <a:srgbClr val="0f172a"/>
                </a:solidFill>
                <a:latin typeface="Arial"/>
              </a:rPr>
              <a:t>  - Đọc khóa giải mã y tế (gcm_dek) và private key ECC của khoa về vùng RAM bảo mật của Enclave.</a:t>
            </a:r>
            <a:br>
              <a:rPr sz="1200"/>
            </a:br>
            <a:r>
              <a:rPr b="0" lang="en-US" sz="1200" spc="-1" strike="noStrike">
                <a:solidFill>
                  <a:srgbClr val="0f172a"/>
                </a:solidFill>
                <a:latin typeface="Arial"/>
              </a:rPr>
              <a:t>  - Không lưu khóa plaintext ra đĩa cứng của đám mây.</a:t>
            </a:r>
            <a:br>
              <a:rPr sz="1200"/>
            </a:br>
            <a:br>
              <a:rPr sz="1200"/>
            </a:br>
            <a:r>
              <a:rPr b="0" lang="en-US" sz="1200" spc="-1" strike="noStrike">
                <a:solidFill>
                  <a:srgbClr val="0f172a"/>
                </a:solidFill>
                <a:latin typeface="Arial"/>
              </a:rPr>
              <a:t>• mTLS (Mutual TLS):</a:t>
            </a:r>
            <a:br>
              <a:rPr sz="1200"/>
            </a:br>
            <a:r>
              <a:rPr b="0" lang="en-US" sz="1200" spc="-1" strike="noStrike">
                <a:solidFill>
                  <a:srgbClr val="0f172a"/>
                </a:solidFill>
                <a:latin typeface="Arial"/>
              </a:rPr>
              <a:t>  Sử dụng chứng chỉ CA nội bộ để thiết lập mã hóa đường truyền an toàn cho luồng dữ liệu đi từ Enclave Pool về Router.</a:t>
            </a:r>
            <a:endParaRPr b="0" lang="en-US" sz="1200" spc="-1" strike="noStrike">
              <a:solidFill>
                <a:srgbClr val="000000"/>
              </a:solidFill>
              <a:latin typeface="Arial"/>
            </a:endParaRPr>
          </a:p>
        </p:txBody>
      </p:sp>
      <p:sp>
        <p:nvSpPr>
          <p:cNvPr id="103" name="Rounded Rectangle 5"/>
          <p:cNvSpPr/>
          <p:nvPr/>
        </p:nvSpPr>
        <p:spPr>
          <a:xfrm>
            <a:off x="6217920" y="1371600"/>
            <a:ext cx="5394600" cy="4845960"/>
          </a:xfrm>
          <a:prstGeom prst="roundRect">
            <a:avLst>
              <a:gd name="adj" fmla="val 16667"/>
            </a:avLst>
          </a:prstGeom>
          <a:solidFill>
            <a:srgbClr val="f1f5f9"/>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06b6d4"/>
                </a:solidFill>
                <a:latin typeface="Segoe UI"/>
              </a:rPr>
              <a:t>Lệnh Vận Hành &amp; Smoke Test Tích Hợp</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Khởi chạy toàn bộ hệ thống (One-command startup):</a:t>
            </a:r>
            <a:br>
              <a:rPr sz="1200"/>
            </a:br>
            <a:r>
              <a:rPr b="0" lang="en-US" sz="1200" spc="-1" strike="noStrike">
                <a:solidFill>
                  <a:srgbClr val="0f172a"/>
                </a:solidFill>
                <a:latin typeface="Arial"/>
              </a:rPr>
              <a:t>  $ make up</a:t>
            </a:r>
            <a:br>
              <a:rPr sz="1200"/>
            </a:br>
            <a:r>
              <a:rPr b="0" lang="en-US" sz="1200" spc="-1" strike="noStrike">
                <a:solidFill>
                  <a:srgbClr val="0f172a"/>
                </a:solidFill>
                <a:latin typeface="Arial"/>
              </a:rPr>
              <a:t>  (Khởi động MongoDB, seeder gieo 10,000 hồ sơ EHR ciphertext, khởi động Vault, ECALL Task Pool và Query Router)</a:t>
            </a:r>
            <a:br>
              <a:rPr sz="1200"/>
            </a:br>
            <a:br>
              <a:rPr sz="1200"/>
            </a:br>
            <a:r>
              <a:rPr b="0" lang="en-US" sz="1200" spc="-1" strike="noStrike">
                <a:solidFill>
                  <a:srgbClr val="0f172a"/>
                </a:solidFill>
                <a:latin typeface="Arial"/>
              </a:rPr>
              <a:t>• Lệnh phụ trợ:</a:t>
            </a:r>
            <a:br>
              <a:rPr sz="1200"/>
            </a:br>
            <a:r>
              <a:rPr b="0" lang="en-US" sz="1200" spc="-1" strike="noStrike">
                <a:solidFill>
                  <a:srgbClr val="0f172a"/>
                </a:solidFill>
                <a:latin typeface="Arial"/>
              </a:rPr>
              <a:t>  - Xem trạng thái: make ps</a:t>
            </a:r>
            <a:br>
              <a:rPr sz="1200"/>
            </a:br>
            <a:r>
              <a:rPr b="0" lang="en-US" sz="1200" spc="-1" strike="noStrike">
                <a:solidFill>
                  <a:srgbClr val="0f172a"/>
                </a:solidFill>
                <a:latin typeface="Arial"/>
              </a:rPr>
              <a:t>  - Xem log: make logs</a:t>
            </a:r>
            <a:br>
              <a:rPr sz="1200"/>
            </a:br>
            <a:r>
              <a:rPr b="0" lang="en-US" sz="1200" spc="-1" strike="noStrike">
                <a:solidFill>
                  <a:srgbClr val="0f172a"/>
                </a:solidFill>
                <a:latin typeface="Arial"/>
              </a:rPr>
              <a:t>  - Tắt hệ thống và xóa volume: make down</a:t>
            </a:r>
            <a:br>
              <a:rPr sz="1200"/>
            </a:br>
            <a:br>
              <a:rPr sz="1200"/>
            </a:br>
            <a:r>
              <a:rPr b="0" lang="en-US" sz="1200" spc="-1" strike="noStrike">
                <a:solidFill>
                  <a:srgbClr val="0f172a"/>
                </a:solidFill>
                <a:latin typeface="Arial"/>
              </a:rPr>
              <a:t>• Khởi chạy Smoke Test mTLS E2E nội bộ:</a:t>
            </a:r>
            <a:br>
              <a:rPr sz="1200"/>
            </a:br>
            <a:r>
              <a:rPr b="0" lang="en-US" sz="1200" spc="-1" strike="noStrike">
                <a:solidFill>
                  <a:srgbClr val="0f172a"/>
                </a:solidFill>
                <a:latin typeface="Arial"/>
              </a:rPr>
              <a:t>  $ make smoke-local</a:t>
            </a:r>
            <a:br>
              <a:rPr sz="1200"/>
            </a:br>
            <a:br>
              <a:rPr sz="1200"/>
            </a:br>
            <a:r>
              <a:rPr b="0" lang="en-US" sz="1200" spc="-1" strike="noStrike">
                <a:solidFill>
                  <a:srgbClr val="0f172a"/>
                </a:solidFill>
                <a:latin typeface="Arial"/>
              </a:rPr>
              <a:t>• Kết quả E2E test xác thực liên thông:</a:t>
            </a:r>
            <a:br>
              <a:rPr sz="1200"/>
            </a:br>
            <a:r>
              <a:rPr b="0" lang="en-US" sz="1200" spc="-1" strike="noStrike">
                <a:solidFill>
                  <a:srgbClr val="0f172a"/>
                </a:solidFill>
                <a:latin typeface="Arial"/>
              </a:rPr>
              <a:t>  $ pytest tests/test_e2e.py -v</a:t>
            </a:r>
            <a:br>
              <a:rPr sz="1200"/>
            </a:br>
            <a:r>
              <a:rPr b="0" lang="en-US" sz="1200" spc="-1" strike="noStrike">
                <a:solidFill>
                  <a:srgbClr val="0f172a"/>
                </a:solidFill>
                <a:latin typeface="Arial"/>
              </a:rPr>
              <a:t>  =&gt; 10/10 Passed (Thống kê và PII chạy thực tế trên MongoDB, Vault và Enclave Pool).</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4" name="TextBox 1"/>
          <p:cNvSpPr/>
          <p:nvPr/>
        </p:nvSpPr>
        <p:spPr>
          <a:xfrm>
            <a:off x="548640" y="365760"/>
            <a:ext cx="9143640" cy="975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Kết Quả Đánh Giá Hiệu Năng (Performance)</a:t>
            </a:r>
            <a:endParaRPr b="0" lang="en-US" sz="3200" spc="-1" strike="noStrike">
              <a:solidFill>
                <a:srgbClr val="000000"/>
              </a:solidFill>
              <a:latin typeface="Arial"/>
            </a:endParaRPr>
          </a:p>
        </p:txBody>
      </p:sp>
      <p:sp>
        <p:nvSpPr>
          <p:cNvPr id="105" name="TextBox 2"/>
          <p:cNvSpPr/>
          <p:nvPr/>
        </p:nvSpPr>
        <p:spPr>
          <a:xfrm>
            <a:off x="10575720" y="365760"/>
            <a:ext cx="9766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10 / 14</a:t>
            </a:r>
            <a:endParaRPr b="0" lang="en-US" sz="1100" spc="-1" strike="noStrike">
              <a:solidFill>
                <a:srgbClr val="000000"/>
              </a:solidFill>
              <a:latin typeface="Arial"/>
            </a:endParaRPr>
          </a:p>
        </p:txBody>
      </p:sp>
      <p:sp>
        <p:nvSpPr>
          <p:cNvPr id="106" name="Rounded Rectangle 4"/>
          <p:cNvSpPr/>
          <p:nvPr/>
        </p:nvSpPr>
        <p:spPr>
          <a:xfrm>
            <a:off x="548640" y="1371600"/>
            <a:ext cx="5303160" cy="4845960"/>
          </a:xfrm>
          <a:prstGeom prst="roundRect">
            <a:avLst>
              <a:gd name="adj" fmla="val 16667"/>
            </a:avLst>
          </a:prstGeom>
          <a:solidFill>
            <a:srgbClr val="f1f5f9"/>
          </a:solidFill>
          <a:ln w="19050">
            <a:solidFill>
              <a:srgbClr val="8b5cf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8b5cf6"/>
                </a:solidFill>
                <a:latin typeface="Segoe UI"/>
              </a:rPr>
              <a:t>1. Thời gian phản hồi (50 runs mỗi chế độ)</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SOFTWARE (count y tế):</a:t>
            </a:r>
            <a:br>
              <a:rPr sz="1200"/>
            </a:br>
            <a:r>
              <a:rPr b="0" lang="en-US" sz="1200" spc="-1" strike="noStrike">
                <a:solidFill>
                  <a:srgbClr val="0f172a"/>
                </a:solidFill>
                <a:latin typeface="Arial"/>
              </a:rPr>
              <a:t>  - Độ trễ trung bình: 5.7 ms</a:t>
            </a:r>
            <a:br>
              <a:rPr sz="1200"/>
            </a:br>
            <a:r>
              <a:rPr b="0" lang="en-US" sz="1200" spc="-1" strike="noStrike">
                <a:solidFill>
                  <a:srgbClr val="0f172a"/>
                </a:solidFill>
                <a:latin typeface="Arial"/>
              </a:rPr>
              <a:t>  - p95: 6.2 ms | QPS: 174</a:t>
            </a:r>
            <a:br>
              <a:rPr sz="1200"/>
            </a:br>
            <a:br>
              <a:rPr sz="1200"/>
            </a:br>
            <a:r>
              <a:rPr b="0" lang="en-US" sz="1200" spc="-1" strike="noStrike">
                <a:solidFill>
                  <a:srgbClr val="0f172a"/>
                </a:solidFill>
                <a:latin typeface="Arial"/>
              </a:rPr>
              <a:t>• TEE (sum_vien_phi y tế):</a:t>
            </a:r>
            <a:br>
              <a:rPr sz="1200"/>
            </a:br>
            <a:r>
              <a:rPr b="0" lang="en-US" sz="1200" spc="-1" strike="noStrike">
                <a:solidFill>
                  <a:srgbClr val="0f172a"/>
                </a:solidFill>
                <a:latin typeface="Arial"/>
              </a:rPr>
              <a:t>  - Độ trễ trung bình: 10.6 ms</a:t>
            </a:r>
            <a:br>
              <a:rPr sz="1200"/>
            </a:br>
            <a:r>
              <a:rPr b="0" lang="en-US" sz="1200" spc="-1" strike="noStrike">
                <a:solidFill>
                  <a:srgbClr val="0f172a"/>
                </a:solidFill>
                <a:latin typeface="Arial"/>
              </a:rPr>
              <a:t>  - p95: 11.6 ms | QPS: 94</a:t>
            </a:r>
            <a:br>
              <a:rPr sz="1200"/>
            </a:br>
            <a:br>
              <a:rPr sz="1200"/>
            </a:br>
            <a:r>
              <a:rPr b="0" lang="en-US" sz="1200" spc="-1" strike="noStrike">
                <a:solidFill>
                  <a:srgbClr val="0f172a"/>
                </a:solidFill>
                <a:latin typeface="Arial"/>
              </a:rPr>
              <a:t>• TEE (avg_vien_phi y tế):</a:t>
            </a:r>
            <a:br>
              <a:rPr sz="1200"/>
            </a:br>
            <a:r>
              <a:rPr b="0" lang="en-US" sz="1200" spc="-1" strike="noStrike">
                <a:solidFill>
                  <a:srgbClr val="0f172a"/>
                </a:solidFill>
                <a:latin typeface="Arial"/>
              </a:rPr>
              <a:t>  - Độ trễ trung bình: 11.0 ms</a:t>
            </a:r>
            <a:br>
              <a:rPr sz="1200"/>
            </a:br>
            <a:r>
              <a:rPr b="0" lang="en-US" sz="1200" spc="-1" strike="noStrike">
                <a:solidFill>
                  <a:srgbClr val="0f172a"/>
                </a:solidFill>
                <a:latin typeface="Arial"/>
              </a:rPr>
              <a:t>  - p95: 12.0 ms | QPS: 91</a:t>
            </a:r>
            <a:br>
              <a:rPr sz="1200"/>
            </a:br>
            <a:br>
              <a:rPr sz="1200"/>
            </a:br>
            <a:r>
              <a:rPr b="0" lang="en-US" sz="1200" spc="-1" strike="noStrike">
                <a:solidFill>
                  <a:srgbClr val="0f172a"/>
                </a:solidFill>
                <a:latin typeface="Arial"/>
              </a:rPr>
              <a:t>• Hybrid + RBAC masking y tế:</a:t>
            </a:r>
            <a:br>
              <a:rPr sz="1200"/>
            </a:br>
            <a:r>
              <a:rPr b="0" lang="en-US" sz="1200" spc="-1" strike="noStrike">
                <a:solidFill>
                  <a:srgbClr val="0f172a"/>
                </a:solidFill>
                <a:latin typeface="Arial"/>
              </a:rPr>
              <a:t>  - Độ trễ trung bình: 11.8 ms</a:t>
            </a:r>
            <a:br>
              <a:rPr sz="1200"/>
            </a:br>
            <a:r>
              <a:rPr b="0" lang="en-US" sz="1200" spc="-1" strike="noStrike">
                <a:solidFill>
                  <a:srgbClr val="0f172a"/>
                </a:solidFill>
                <a:latin typeface="Arial"/>
              </a:rPr>
              <a:t>  - p95: 15.1 ms | QPS: 84</a:t>
            </a:r>
            <a:br>
              <a:rPr sz="1200"/>
            </a:br>
            <a:br>
              <a:rPr sz="1200"/>
            </a:br>
            <a:r>
              <a:rPr b="0" lang="en-US" sz="1200" spc="-1" strike="noStrike">
                <a:solidFill>
                  <a:srgbClr val="0f172a"/>
                </a:solidFill>
                <a:latin typeface="Arial"/>
              </a:rPr>
              <a:t>=&gt; Nhận xét: TEE overhead chỉ cao gấp ~2 lần so với Software. Đây là độ trễ tối ưu và hoàn toàn có thể chấp nhận được trong ngành y tế.</a:t>
            </a:r>
            <a:endParaRPr b="0" lang="en-US" sz="1200" spc="-1" strike="noStrike">
              <a:solidFill>
                <a:srgbClr val="000000"/>
              </a:solidFill>
              <a:latin typeface="Arial"/>
            </a:endParaRPr>
          </a:p>
        </p:txBody>
      </p:sp>
      <p:sp>
        <p:nvSpPr>
          <p:cNvPr id="107" name="Rounded Rectangle 5"/>
          <p:cNvSpPr/>
          <p:nvPr/>
        </p:nvSpPr>
        <p:spPr>
          <a:xfrm>
            <a:off x="6217920" y="1371600"/>
            <a:ext cx="5394600" cy="4845960"/>
          </a:xfrm>
          <a:prstGeom prst="roundRect">
            <a:avLst>
              <a:gd name="adj" fmla="val 16667"/>
            </a:avLst>
          </a:prstGeom>
          <a:solidFill>
            <a:srgbClr val="f1f5f9"/>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06b6d4"/>
                </a:solidFill>
                <a:latin typeface="Segoe UI"/>
              </a:rPr>
              <a:t>2. Khả năng chịu tải (Concurrent Clients)</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Hệ thống kiểm thử với số lượng yêu cầu truy vấn đồng thời từ 1 đến 50 clients kết nối vào API thống kê viện phí trung bình:</a:t>
            </a:r>
            <a:br>
              <a:rPr sz="1200"/>
            </a:br>
            <a:br>
              <a:rPr sz="1200"/>
            </a:br>
            <a:r>
              <a:rPr b="0" lang="en-US" sz="1200" spc="-1" strike="noStrike">
                <a:solidFill>
                  <a:srgbClr val="0f172a"/>
                </a:solidFill>
                <a:latin typeface="Arial"/>
              </a:rPr>
              <a:t>• 1 Client đồng thời:</a:t>
            </a:r>
            <a:br>
              <a:rPr sz="1200"/>
            </a:br>
            <a:r>
              <a:rPr b="0" lang="en-US" sz="1200" spc="-1" strike="noStrike">
                <a:solidFill>
                  <a:srgbClr val="0f172a"/>
                </a:solidFill>
                <a:latin typeface="Arial"/>
              </a:rPr>
              <a:t>  - Độ trễ trung bình: 7.1 ms | QPS: 141 | Lỗi: 0%</a:t>
            </a:r>
            <a:br>
              <a:rPr sz="1200"/>
            </a:br>
            <a:br>
              <a:rPr sz="1200"/>
            </a:br>
            <a:r>
              <a:rPr b="0" lang="en-US" sz="1200" spc="-1" strike="noStrike">
                <a:solidFill>
                  <a:srgbClr val="0f172a"/>
                </a:solidFill>
                <a:latin typeface="Arial"/>
              </a:rPr>
              <a:t>• 10 Clients đồng thời:</a:t>
            </a:r>
            <a:br>
              <a:rPr sz="1200"/>
            </a:br>
            <a:r>
              <a:rPr b="0" lang="en-US" sz="1200" spc="-1" strike="noStrike">
                <a:solidFill>
                  <a:srgbClr val="0f172a"/>
                </a:solidFill>
                <a:latin typeface="Arial"/>
              </a:rPr>
              <a:t>  - Độ trễ trung bình: 31.6 ms | QPS: 305 | Lỗi: 0%</a:t>
            </a:r>
            <a:br>
              <a:rPr sz="1200"/>
            </a:br>
            <a:br>
              <a:rPr sz="1200"/>
            </a:br>
            <a:r>
              <a:rPr b="0" lang="en-US" sz="1200" spc="-1" strike="noStrike">
                <a:solidFill>
                  <a:srgbClr val="0f172a"/>
                </a:solidFill>
                <a:latin typeface="Arial"/>
              </a:rPr>
              <a:t>• 50 Clients đồng thời:</a:t>
            </a:r>
            <a:br>
              <a:rPr sz="1200"/>
            </a:br>
            <a:r>
              <a:rPr b="0" lang="en-US" sz="1200" spc="-1" strike="noStrike">
                <a:solidFill>
                  <a:srgbClr val="0f172a"/>
                </a:solidFill>
                <a:latin typeface="Arial"/>
              </a:rPr>
              <a:t>  - Độ trễ trung bình: 152.9 ms | QPS: 299 | Lỗi: 0%</a:t>
            </a:r>
            <a:br>
              <a:rPr sz="1200"/>
            </a:br>
            <a:br>
              <a:rPr sz="1200"/>
            </a:br>
            <a:r>
              <a:rPr b="0" lang="en-US" sz="1200" spc="-1" strike="noStrike">
                <a:solidFill>
                  <a:srgbClr val="0f172a"/>
                </a:solidFill>
                <a:latin typeface="Arial"/>
              </a:rPr>
              <a:t>=&gt; Nhận xét: Nhờ sử dụng Thread Pool 8 workers và tập lệnh AES-NI phần cứng, hệ thống duy trì được throughput ổn định (khoảng 300 QPS) với tỷ lệ lỗi 0% tuyệt đối ở mức tải cao.</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8" name="TextBox 1"/>
          <p:cNvSpPr/>
          <p:nvPr/>
        </p:nvSpPr>
        <p:spPr>
          <a:xfrm>
            <a:off x="548640" y="365760"/>
            <a:ext cx="9143640" cy="975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Đánh Giá An Ninh &amp; Rò Rỉ (Security Assessment)</a:t>
            </a:r>
            <a:endParaRPr b="0" lang="en-US" sz="3200" spc="-1" strike="noStrike">
              <a:solidFill>
                <a:srgbClr val="000000"/>
              </a:solidFill>
              <a:latin typeface="Arial"/>
            </a:endParaRPr>
          </a:p>
        </p:txBody>
      </p:sp>
      <p:sp>
        <p:nvSpPr>
          <p:cNvPr id="109" name="TextBox 2"/>
          <p:cNvSpPr/>
          <p:nvPr/>
        </p:nvSpPr>
        <p:spPr>
          <a:xfrm>
            <a:off x="10575720" y="365760"/>
            <a:ext cx="9766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11 / 14</a:t>
            </a:r>
            <a:endParaRPr b="0" lang="en-US" sz="1100" spc="-1" strike="noStrike">
              <a:solidFill>
                <a:srgbClr val="000000"/>
              </a:solidFill>
              <a:latin typeface="Arial"/>
            </a:endParaRPr>
          </a:p>
        </p:txBody>
      </p:sp>
      <p:sp>
        <p:nvSpPr>
          <p:cNvPr id="110" name="Rounded Rectangle 4"/>
          <p:cNvSpPr/>
          <p:nvPr/>
        </p:nvSpPr>
        <p:spPr>
          <a:xfrm>
            <a:off x="548640" y="1371600"/>
            <a:ext cx="5303160" cy="4845960"/>
          </a:xfrm>
          <a:prstGeom prst="roundRect">
            <a:avLst>
              <a:gd name="adj" fmla="val 16667"/>
            </a:avLst>
          </a:prstGeom>
          <a:solidFill>
            <a:srgbClr val="f1f5f9"/>
          </a:solidFill>
          <a:ln w="19050">
            <a:solidFill>
              <a:srgbClr val="e11d4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e11d48"/>
                </a:solidFill>
                <a:latin typeface="Segoe UI"/>
              </a:rPr>
              <a:t>Phân Tích Q-Leakage khi Fallback</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Trạng thái TEE Mode (Bình thường):</a:t>
            </a:r>
            <a:br>
              <a:rPr sz="1200"/>
            </a:br>
            <a:r>
              <a:rPr b="0" lang="en-US" sz="1200" spc="-1" strike="noStrike">
                <a:solidFill>
                  <a:srgbClr val="0f172a"/>
                </a:solidFill>
                <a:latin typeface="Arial"/>
              </a:rPr>
              <a:t>  - Rò rỉ dữ liệu = 0.</a:t>
            </a:r>
            <a:br>
              <a:rPr sz="1200"/>
            </a:br>
            <a:r>
              <a:rPr b="0" lang="en-US" sz="1200" spc="-1" strike="noStrike">
                <a:solidFill>
                  <a:srgbClr val="0f172a"/>
                </a:solidFill>
                <a:latin typeface="Arial"/>
              </a:rPr>
              <a:t>  - Các kết quả được tổng hợp trực tiếp trong Enclave. Dữ liệu trung gian và khóa DEK được cô lập hoàn toàn trước Hypervisor.</a:t>
            </a:r>
            <a:br>
              <a:rPr sz="1200"/>
            </a:br>
            <a:br>
              <a:rPr sz="1200"/>
            </a:br>
            <a:r>
              <a:rPr b="0" lang="en-US" sz="1200" spc="-1" strike="noStrike">
                <a:solidFill>
                  <a:srgbClr val="0f172a"/>
                </a:solidFill>
                <a:latin typeface="Arial"/>
              </a:rPr>
              <a:t>• Trạng thái Software Fallback Mode:</a:t>
            </a:r>
            <a:br>
              <a:rPr sz="1200"/>
            </a:br>
            <a:r>
              <a:rPr b="0" lang="en-US" sz="1200" spc="-1" strike="noStrike">
                <a:solidFill>
                  <a:srgbClr val="0f172a"/>
                </a:solidFill>
                <a:latin typeface="Arial"/>
              </a:rPr>
              <a:t>  - Khi Enclave quá tải bộ nhớ, hệ thống chuyển sang giải mã cục bộ bằng CPU host để tính toán gộp.</a:t>
            </a:r>
            <a:br>
              <a:rPr sz="1200"/>
            </a:br>
            <a:r>
              <a:rPr b="0" lang="en-US" sz="1200" spc="-1" strike="noStrike">
                <a:solidFill>
                  <a:srgbClr val="0f172a"/>
                </a:solidFill>
                <a:latin typeface="Arial"/>
              </a:rPr>
              <a:t>  - Khóa giải mã DEK (gcm_dek) và các bản ghi plaintext xuất hiện trên RAM host tạo ra rủi ro bị rò rỉ nếu Hypervisor bị dump RAM.</a:t>
            </a:r>
            <a:br>
              <a:rPr sz="1200"/>
            </a:br>
            <a:br>
              <a:rPr sz="1200"/>
            </a:br>
            <a:r>
              <a:rPr b="0" lang="en-US" sz="1200" spc="-1" strike="noStrike">
                <a:solidFill>
                  <a:srgbClr val="0f172a"/>
                </a:solidFill>
                <a:latin typeface="Arial"/>
              </a:rPr>
              <a:t>• Đánh giá mức độ lộ lọt dữ liệu (Q-Leakage):</a:t>
            </a:r>
            <a:br>
              <a:rPr sz="1200"/>
            </a:br>
            <a:r>
              <a:rPr b="0" lang="en-US" sz="1200" spc="-1" strike="noStrike">
                <a:solidFill>
                  <a:srgbClr val="0f172a"/>
                </a:solidFill>
                <a:latin typeface="Arial"/>
              </a:rPr>
              <a:t>  Tệp tests/leakage.py thực hiện đo đạc sự khác biệt rõ rệt về mức độ lộ lọt dữ liệu giữa TEE mode (đã masked) so với Software Fallback raw.</a:t>
            </a:r>
            <a:endParaRPr b="0" lang="en-US" sz="1200" spc="-1" strike="noStrike">
              <a:solidFill>
                <a:srgbClr val="000000"/>
              </a:solidFill>
              <a:latin typeface="Arial"/>
            </a:endParaRPr>
          </a:p>
        </p:txBody>
      </p:sp>
      <p:sp>
        <p:nvSpPr>
          <p:cNvPr id="111" name="Rounded Rectangle 5"/>
          <p:cNvSpPr/>
          <p:nvPr/>
        </p:nvSpPr>
        <p:spPr>
          <a:xfrm>
            <a:off x="6217920" y="1371600"/>
            <a:ext cx="5394600" cy="4845960"/>
          </a:xfrm>
          <a:prstGeom prst="roundRect">
            <a:avLst>
              <a:gd name="adj" fmla="val 16667"/>
            </a:avLst>
          </a:prstGeom>
          <a:solidFill>
            <a:srgbClr val="f1f5f9"/>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06b6d4"/>
                </a:solidFill>
                <a:latin typeface="Segoe UI"/>
              </a:rPr>
              <a:t>Đánh Giá Bảo Mật Thuật Toán ORE &amp; SSE</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ORE Order-Leakage (Tuổi bệnh nhân):</a:t>
            </a:r>
            <a:br>
              <a:rPr sz="1200"/>
            </a:br>
            <a:r>
              <a:rPr b="0" lang="en-US" sz="1200" spc="-1" strike="noStrike">
                <a:solidFill>
                  <a:srgbClr val="0f172a"/>
                </a:solidFill>
                <a:latin typeface="Arial"/>
              </a:rPr>
              <a:t>  - Thực nghiệm đo lường sai số phục hồi tuổi thực tế (MAE - Mean Absolute Error) khi kẻ tấn công thực hiện tấn công ánh xạ thứ hạng là 0.67 tuổi (cho kịch bản có neo).</a:t>
            </a:r>
            <a:br>
              <a:rPr sz="1200"/>
            </a:br>
            <a:r>
              <a:rPr b="0" lang="en-US" sz="1200" spc="-1" strike="noStrike">
                <a:solidFill>
                  <a:srgbClr val="0f172a"/>
                </a:solidFill>
                <a:latin typeface="Arial"/>
              </a:rPr>
              <a:t>  - Hệ thống hạn chế rủi ro bằng cách chỉ dùng ORE lọc thô tuổi ở Software mode.</a:t>
            </a:r>
            <a:br>
              <a:rPr sz="1200"/>
            </a:br>
            <a:br>
              <a:rPr sz="1200"/>
            </a:br>
            <a:r>
              <a:rPr b="0" lang="en-US" sz="1200" spc="-1" strike="noStrike">
                <a:solidFill>
                  <a:srgbClr val="0f172a"/>
                </a:solidFill>
                <a:latin typeface="Arial"/>
              </a:rPr>
              <a:t>• Static SSE Leakage (Triệu chứng):</a:t>
            </a:r>
            <a:br>
              <a:rPr sz="1200"/>
            </a:br>
            <a:r>
              <a:rPr b="0" lang="en-US" sz="1200" spc="-1" strike="noStrike">
                <a:solidFill>
                  <a:srgbClr val="0f172a"/>
                </a:solidFill>
                <a:latin typeface="Arial"/>
              </a:rPr>
              <a:t>  - Rò rỉ search pattern (HMAC token trùng nhau) và access pattern (postings y tế lộ ID bệnh nhân trùng).</a:t>
            </a:r>
            <a:br>
              <a:rPr sz="1200"/>
            </a:br>
            <a:r>
              <a:rPr b="0" lang="en-US" sz="1200" spc="-1" strike="noStrike">
                <a:solidFill>
                  <a:srgbClr val="0f172a"/>
                </a:solidFill>
                <a:latin typeface="Arial"/>
              </a:rPr>
              <a:t>  - Khắc phục bằng cách tách biệt chỉ mục sse_index với các thông tin định danh cá nhân y tế nhạy cảm (PII).</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2" name="TextBox 1"/>
          <p:cNvSpPr/>
          <p:nvPr/>
        </p:nvSpPr>
        <p:spPr>
          <a:xfrm>
            <a:off x="548640" y="365760"/>
            <a:ext cx="9143640" cy="975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Kịch Bản Demo Thực Tế (Live Demo Walkthrough)</a:t>
            </a:r>
            <a:endParaRPr b="0" lang="en-US" sz="3200" spc="-1" strike="noStrike">
              <a:solidFill>
                <a:srgbClr val="000000"/>
              </a:solidFill>
              <a:latin typeface="Arial"/>
            </a:endParaRPr>
          </a:p>
        </p:txBody>
      </p:sp>
      <p:sp>
        <p:nvSpPr>
          <p:cNvPr id="113" name="TextBox 2"/>
          <p:cNvSpPr/>
          <p:nvPr/>
        </p:nvSpPr>
        <p:spPr>
          <a:xfrm>
            <a:off x="10575720" y="365760"/>
            <a:ext cx="9766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12 / 14</a:t>
            </a:r>
            <a:endParaRPr b="0" lang="en-US" sz="1100" spc="-1" strike="noStrike">
              <a:solidFill>
                <a:srgbClr val="000000"/>
              </a:solidFill>
              <a:latin typeface="Arial"/>
            </a:endParaRPr>
          </a:p>
        </p:txBody>
      </p:sp>
      <p:sp>
        <p:nvSpPr>
          <p:cNvPr id="114" name="Rounded Rectangle 4"/>
          <p:cNvSpPr/>
          <p:nvPr/>
        </p:nvSpPr>
        <p:spPr>
          <a:xfrm>
            <a:off x="548640" y="1645920"/>
            <a:ext cx="3474360" cy="3657240"/>
          </a:xfrm>
          <a:prstGeom prst="roundRect">
            <a:avLst>
              <a:gd name="adj" fmla="val 16667"/>
            </a:avLst>
          </a:prstGeom>
          <a:solidFill>
            <a:srgbClr val="f1f5f9"/>
          </a:solidFill>
          <a:ln w="19050">
            <a:solidFill>
              <a:srgbClr val="06b6d4"/>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06b6d4"/>
                </a:solidFill>
                <a:latin typeface="Segoe UI"/>
              </a:rPr>
              <a:t>1. ABAC Dept-Scoping</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Chạy script:</a:t>
            </a:r>
            <a:br>
              <a:rPr sz="1200"/>
            </a:br>
            <a:r>
              <a:rPr b="0" lang="en-US" sz="1200" spc="-1" strike="noStrike">
                <a:solidFill>
                  <a:srgbClr val="0f172a"/>
                </a:solidFill>
                <a:latin typeface="Arial"/>
              </a:rPr>
              <a:t>  demo_abac.py</a:t>
            </a:r>
            <a:br>
              <a:rPr sz="1200"/>
            </a:br>
            <a:br>
              <a:rPr sz="1200"/>
            </a:br>
            <a:r>
              <a:rPr b="0" lang="en-US" sz="1200" spc="-1" strike="noStrike">
                <a:solidFill>
                  <a:srgbClr val="0f172a"/>
                </a:solidFill>
                <a:latin typeface="Arial"/>
              </a:rPr>
              <a:t>• Diễn biến:</a:t>
            </a:r>
            <a:br>
              <a:rPr sz="1200"/>
            </a:br>
            <a:r>
              <a:rPr b="0" lang="en-US" sz="1200" spc="-1" strike="noStrike">
                <a:solidFill>
                  <a:srgbClr val="0f172a"/>
                </a:solidFill>
                <a:latin typeface="Arial"/>
              </a:rPr>
              <a:t>  Bác sĩ khoa Tim mạch chỉ truy vấn được 1,700 hồ sơ bệnh nhân thuộc khoa mình. Sửa filter tìm kiếm khoa khác lập tức bị Router phát hiện và trả về lỗi 403 Forbidden.</a:t>
            </a:r>
            <a:br>
              <a:rPr sz="1200"/>
            </a:br>
            <a:r>
              <a:rPr b="0" lang="en-US" sz="1200" spc="-1" strike="noStrike">
                <a:solidFill>
                  <a:srgbClr val="0f172a"/>
                </a:solidFill>
                <a:latin typeface="Arial"/>
              </a:rPr>
              <a:t>  (Chứng minh Zero-trust client)</a:t>
            </a:r>
            <a:endParaRPr b="0" lang="en-US" sz="1200" spc="-1" strike="noStrike">
              <a:solidFill>
                <a:srgbClr val="000000"/>
              </a:solidFill>
              <a:latin typeface="Arial"/>
            </a:endParaRPr>
          </a:p>
        </p:txBody>
      </p:sp>
      <p:sp>
        <p:nvSpPr>
          <p:cNvPr id="115" name="Rounded Rectangle 5"/>
          <p:cNvSpPr/>
          <p:nvPr/>
        </p:nvSpPr>
        <p:spPr>
          <a:xfrm>
            <a:off x="4297680" y="1645920"/>
            <a:ext cx="3474360" cy="3657240"/>
          </a:xfrm>
          <a:prstGeom prst="roundRect">
            <a:avLst>
              <a:gd name="adj" fmla="val 16667"/>
            </a:avLst>
          </a:prstGeom>
          <a:solidFill>
            <a:srgbClr val="f1f5f9"/>
          </a:solidFill>
          <a:ln w="19050">
            <a:solidFill>
              <a:srgbClr val="10b98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10b981"/>
                </a:solidFill>
                <a:latin typeface="Segoe UI"/>
              </a:rPr>
              <a:t>2. Staff PII Masking</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Chạy script:</a:t>
            </a:r>
            <a:br>
              <a:rPr sz="1200"/>
            </a:br>
            <a:r>
              <a:rPr b="0" lang="en-US" sz="1200" spc="-1" strike="noStrike">
                <a:solidFill>
                  <a:srgbClr val="0f172a"/>
                </a:solidFill>
                <a:latin typeface="Arial"/>
              </a:rPr>
              <a:t>  demo_e2e.py (luồng PII)</a:t>
            </a:r>
            <a:br>
              <a:rPr sz="1200"/>
            </a:br>
            <a:br>
              <a:rPr sz="1200"/>
            </a:br>
            <a:r>
              <a:rPr b="0" lang="en-US" sz="1200" spc="-1" strike="noStrike">
                <a:solidFill>
                  <a:srgbClr val="0f172a"/>
                </a:solidFill>
                <a:latin typeface="Arial"/>
              </a:rPr>
              <a:t>• Diễn biến:</a:t>
            </a:r>
            <a:br>
              <a:rPr sz="1200"/>
            </a:br>
            <a:r>
              <a:rPr b="0" lang="en-US" sz="1200" spc="-1" strike="noStrike">
                <a:solidFill>
                  <a:srgbClr val="0f172a"/>
                </a:solidFill>
                <a:latin typeface="Arial"/>
              </a:rPr>
              <a:t>  Nhân viên hành chính tra cứu hồ sơ bệnh nhân bằng CCCD: thấy Họ tên, CCCD plaintext; nhưng hai trường y tế nhạy cảm là "Tóm tắt bệnh án" và "Phác đồ điều trị" bị Router che giấu thành [MASKED].</a:t>
            </a:r>
            <a:endParaRPr b="0" lang="en-US" sz="1200" spc="-1" strike="noStrike">
              <a:solidFill>
                <a:srgbClr val="000000"/>
              </a:solidFill>
              <a:latin typeface="Arial"/>
            </a:endParaRPr>
          </a:p>
        </p:txBody>
      </p:sp>
      <p:sp>
        <p:nvSpPr>
          <p:cNvPr id="116" name="Rounded Rectangle 6"/>
          <p:cNvSpPr/>
          <p:nvPr/>
        </p:nvSpPr>
        <p:spPr>
          <a:xfrm>
            <a:off x="8046720" y="1645920"/>
            <a:ext cx="3565800" cy="3657240"/>
          </a:xfrm>
          <a:prstGeom prst="roundRect">
            <a:avLst>
              <a:gd name="adj" fmla="val 16667"/>
            </a:avLst>
          </a:prstGeom>
          <a:solidFill>
            <a:srgbClr val="f1f5f9"/>
          </a:solidFill>
          <a:ln w="19050">
            <a:solidFill>
              <a:srgbClr val="e11d4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e11d48"/>
                </a:solidFill>
                <a:latin typeface="Segoe UI"/>
              </a:rPr>
              <a:t>3. Live Fallback &amp; Restore</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Chạy script:</a:t>
            </a:r>
            <a:br>
              <a:rPr sz="1200"/>
            </a:br>
            <a:r>
              <a:rPr b="0" lang="en-US" sz="1200" spc="-1" strike="noStrike">
                <a:solidFill>
                  <a:srgbClr val="0f172a"/>
                </a:solidFill>
                <a:latin typeface="Arial"/>
              </a:rPr>
              <a:t>  demo_adaptive.py</a:t>
            </a:r>
            <a:br>
              <a:rPr sz="1200"/>
            </a:br>
            <a:br>
              <a:rPr sz="1200"/>
            </a:br>
            <a:r>
              <a:rPr b="0" lang="en-US" sz="1200" spc="-1" strike="noStrike">
                <a:solidFill>
                  <a:srgbClr val="0f172a"/>
                </a:solidFill>
                <a:latin typeface="Arial"/>
              </a:rPr>
              <a:t>• Diễn biến:</a:t>
            </a:r>
            <a:br>
              <a:rPr sz="1200"/>
            </a:br>
            <a:r>
              <a:rPr b="0" lang="en-US" sz="1200" spc="-1" strike="noStrike">
                <a:solidFill>
                  <a:srgbClr val="0f172a"/>
                </a:solidFill>
                <a:latin typeface="Arial"/>
              </a:rPr>
              <a:t>  Mô phỏng đợt dịch làm tăng tải. Ép áp lực EPC lên 90% via API. Router tự fallback các truy vấn nhạy cảm từ TEE sang Software.</a:t>
            </a:r>
            <a:br>
              <a:rPr sz="1200"/>
            </a:br>
            <a:r>
              <a:rPr b="0" lang="en-US" sz="1200" spc="-1" strike="noStrike">
                <a:solidFill>
                  <a:srgbClr val="0f172a"/>
                </a:solidFill>
                <a:latin typeface="Arial"/>
              </a:rPr>
              <a:t>  Giải tỏa áp lực xuống 30%: Router khôi phục về chế độ TEE (Hysteresis pass).</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7" name="TextBox 1"/>
          <p:cNvSpPr/>
          <p:nvPr/>
        </p:nvSpPr>
        <p:spPr>
          <a:xfrm>
            <a:off x="548640" y="365760"/>
            <a:ext cx="9143640" cy="975240"/>
          </a:xfrm>
          <a:prstGeom prst="rect">
            <a:avLst/>
          </a:prstGeom>
          <a:noFill/>
          <a:ln w="0">
            <a:noFill/>
          </a:ln>
        </p:spPr>
        <p:style>
          <a:lnRef idx="0"/>
          <a:fillRef idx="0"/>
          <a:effectRef idx="0"/>
          <a:fontRef idx="minor"/>
        </p:style>
        <p:txBody>
          <a:bodyPr lIns="0" rIns="0" tIns="0" bIns="0" anchor="t">
            <a:spAutoFit/>
          </a:bodyPr>
          <a:p>
            <a:pPr defTabSz="457200">
              <a:lnSpc>
                <a:spcPct val="100000"/>
              </a:lnSpc>
            </a:pPr>
            <a:r>
              <a:rPr b="1" lang="en-US" sz="3200" spc="-1" strike="noStrike">
                <a:solidFill>
                  <a:srgbClr val="8b5cf6"/>
                </a:solidFill>
                <a:latin typeface="Segoe UI"/>
              </a:rPr>
              <a:t>⚠️ </a:t>
            </a:r>
            <a:r>
              <a:rPr b="1" lang="en-US" sz="3200" spc="-1" strike="noStrike">
                <a:solidFill>
                  <a:srgbClr val="8b5cf6"/>
                </a:solidFill>
                <a:latin typeface="Segoe UI"/>
              </a:rPr>
              <a:t>Hạn Chế &amp; Hướng Phát Triển (Future Work)</a:t>
            </a:r>
            <a:endParaRPr b="0" lang="en-US" sz="3200" spc="-1" strike="noStrike">
              <a:solidFill>
                <a:srgbClr val="000000"/>
              </a:solidFill>
              <a:latin typeface="Arial"/>
            </a:endParaRPr>
          </a:p>
        </p:txBody>
      </p:sp>
      <p:sp>
        <p:nvSpPr>
          <p:cNvPr id="118" name="TextBox 2"/>
          <p:cNvSpPr/>
          <p:nvPr/>
        </p:nvSpPr>
        <p:spPr>
          <a:xfrm>
            <a:off x="10575720" y="365760"/>
            <a:ext cx="976680" cy="257400"/>
          </a:xfrm>
          <a:prstGeom prst="rect">
            <a:avLst/>
          </a:prstGeom>
          <a:noFill/>
          <a:ln w="0">
            <a:noFill/>
          </a:ln>
        </p:spPr>
        <p:style>
          <a:lnRef idx="0"/>
          <a:fillRef idx="0"/>
          <a:effectRef idx="0"/>
          <a:fontRef idx="minor"/>
        </p:style>
        <p:txBody>
          <a:bodyPr wrap="none" lIns="90000" rIns="90000" tIns="45000" bIns="45000" anchor="t">
            <a:spAutoFit/>
          </a:bodyPr>
          <a:p>
            <a:pPr algn="r" defTabSz="457200">
              <a:lnSpc>
                <a:spcPct val="100000"/>
              </a:lnSpc>
            </a:pPr>
            <a:r>
              <a:rPr b="0" lang="en-US" sz="1100" spc="-1" strike="noStrike">
                <a:solidFill>
                  <a:srgbClr val="475569"/>
                </a:solidFill>
                <a:latin typeface="Segoe UI"/>
              </a:rPr>
              <a:t>Slide 13 / 14</a:t>
            </a:r>
            <a:endParaRPr b="0" lang="en-US" sz="1100" spc="-1" strike="noStrike">
              <a:solidFill>
                <a:srgbClr val="000000"/>
              </a:solidFill>
              <a:latin typeface="Arial"/>
            </a:endParaRPr>
          </a:p>
        </p:txBody>
      </p:sp>
      <p:sp>
        <p:nvSpPr>
          <p:cNvPr id="119" name="Rounded Rectangle 4"/>
          <p:cNvSpPr/>
          <p:nvPr/>
        </p:nvSpPr>
        <p:spPr>
          <a:xfrm>
            <a:off x="548640" y="1371600"/>
            <a:ext cx="5303160" cy="4845960"/>
          </a:xfrm>
          <a:prstGeom prst="roundRect">
            <a:avLst>
              <a:gd name="adj" fmla="val 16667"/>
            </a:avLst>
          </a:prstGeom>
          <a:solidFill>
            <a:srgbClr val="f1f5f9"/>
          </a:solidFill>
          <a:ln w="19050">
            <a:solidFill>
              <a:srgbClr val="e11d4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e11d48"/>
                </a:solidFill>
                <a:latin typeface="Segoe UI"/>
              </a:rPr>
              <a:t>Các Hạn Chế Hiện Tại</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Giả lập Gramine Simulation:</a:t>
            </a:r>
            <a:br>
              <a:rPr sz="1200"/>
            </a:br>
            <a:r>
              <a:rPr b="0" lang="en-US" sz="1200" spc="-1" strike="noStrike">
                <a:solidFill>
                  <a:srgbClr val="0f172a"/>
                </a:solidFill>
                <a:latin typeface="Arial"/>
              </a:rPr>
              <a:t>  Hệ thống chạy ở chế độ simulation, vùng nhớ EPC chưa thực sự được mã hóa vật lý bằng phần cứng Intel SGX.</a:t>
            </a:r>
            <a:br>
              <a:rPr sz="1200"/>
            </a:br>
            <a:br>
              <a:rPr sz="1200"/>
            </a:br>
            <a:r>
              <a:rPr b="0" lang="en-US" sz="1200" spc="-1" strike="noStrike">
                <a:solidFill>
                  <a:srgbClr val="0f172a"/>
                </a:solidFill>
                <a:latin typeface="Arial"/>
              </a:rPr>
              <a:t>• Chứng thực Attestation đơn giản:</a:t>
            </a:r>
            <a:br>
              <a:rPr sz="1200"/>
            </a:br>
            <a:r>
              <a:rPr b="0" lang="en-US" sz="1200" spc="-1" strike="noStrike">
                <a:solidFill>
                  <a:srgbClr val="0f172a"/>
                </a:solidFill>
                <a:latin typeface="Arial"/>
              </a:rPr>
              <a:t>  Sử dụng mô phỏng chữ ký HMAC + freshness để xác thực enclave, chưa phải là SGX Quote / DCAP thật.</a:t>
            </a:r>
            <a:br>
              <a:rPr sz="1200"/>
            </a:br>
            <a:br>
              <a:rPr sz="1200"/>
            </a:br>
            <a:r>
              <a:rPr b="0" lang="en-US" sz="1200" spc="-1" strike="noStrike">
                <a:solidFill>
                  <a:srgbClr val="0f172a"/>
                </a:solidFill>
                <a:latin typeface="Arial"/>
              </a:rPr>
              <a:t>• Rò rỉ khóa khi Software Fallback:</a:t>
            </a:r>
            <a:br>
              <a:rPr sz="1200"/>
            </a:br>
            <a:r>
              <a:rPr b="0" lang="en-US" sz="1200" spc="-1" strike="noStrike">
                <a:solidFill>
                  <a:srgbClr val="0f172a"/>
                </a:solidFill>
                <a:latin typeface="Arial"/>
              </a:rPr>
              <a:t>  Khi quá tải, việc nạp khóa giải mã gcm_dek ra RAM host để tính toán là một sự đánh đổi về mặt an ninh để giữ tính sẵn sàng.</a:t>
            </a:r>
            <a:endParaRPr b="0" lang="en-US" sz="1200" spc="-1" strike="noStrike">
              <a:solidFill>
                <a:srgbClr val="000000"/>
              </a:solidFill>
              <a:latin typeface="Arial"/>
            </a:endParaRPr>
          </a:p>
        </p:txBody>
      </p:sp>
      <p:sp>
        <p:nvSpPr>
          <p:cNvPr id="120" name="Rounded Rectangle 5"/>
          <p:cNvSpPr/>
          <p:nvPr/>
        </p:nvSpPr>
        <p:spPr>
          <a:xfrm>
            <a:off x="6217920" y="1371600"/>
            <a:ext cx="5394600" cy="4845960"/>
          </a:xfrm>
          <a:prstGeom prst="roundRect">
            <a:avLst>
              <a:gd name="adj" fmla="val 16667"/>
            </a:avLst>
          </a:prstGeom>
          <a:solidFill>
            <a:srgbClr val="f1f5f9"/>
          </a:solidFill>
          <a:ln w="19050">
            <a:solidFill>
              <a:srgbClr val="10b98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182880" rIns="182880" tIns="137160" bIns="137160" anchor="ctr">
            <a:noAutofit/>
          </a:bodyPr>
          <a:p>
            <a:pPr algn="ctr" defTabSz="457200">
              <a:lnSpc>
                <a:spcPct val="100000"/>
              </a:lnSpc>
              <a:spcAft>
                <a:spcPts val="601"/>
              </a:spcAft>
            </a:pPr>
            <a:r>
              <a:rPr b="1" lang="en-US" sz="1600" spc="-1" strike="noStrike">
                <a:solidFill>
                  <a:srgbClr val="10b981"/>
                </a:solidFill>
                <a:latin typeface="Segoe UI"/>
              </a:rPr>
              <a:t>Hướng Phát Triển Tiếp Theo</a:t>
            </a:r>
            <a:endParaRPr b="0" lang="en-US" sz="1600" spc="-1" strike="noStrike">
              <a:solidFill>
                <a:srgbClr val="000000"/>
              </a:solidFill>
              <a:latin typeface="Arial"/>
            </a:endParaRPr>
          </a:p>
          <a:p>
            <a:pPr defTabSz="457200">
              <a:lnSpc>
                <a:spcPct val="120000"/>
              </a:lnSpc>
            </a:pPr>
            <a:r>
              <a:rPr b="0" lang="en-US" sz="1200" spc="-1" strike="noStrike">
                <a:solidFill>
                  <a:srgbClr val="0f172a"/>
                </a:solidFill>
                <a:latin typeface="Arial"/>
              </a:rPr>
              <a:t>• </a:t>
            </a:r>
            <a:r>
              <a:rPr b="0" lang="en-US" sz="1200" spc="-1" strike="noStrike">
                <a:solidFill>
                  <a:srgbClr val="0f172a"/>
                </a:solidFill>
                <a:latin typeface="Arial"/>
              </a:rPr>
              <a:t>Triển khai phần cứng vật lý thật:</a:t>
            </a:r>
            <a:br>
              <a:rPr sz="1200"/>
            </a:br>
            <a:r>
              <a:rPr b="0" lang="en-US" sz="1200" spc="-1" strike="noStrike">
                <a:solidFill>
                  <a:srgbClr val="0f172a"/>
                </a:solidFill>
                <a:latin typeface="Arial"/>
              </a:rPr>
              <a:t>  Đưa hệ thống lên đám mây hỗ trợ Intel SGX2 vật lý (ví dụ: Azure DCsv3) và cấu hình cơ chế chứng thực **RA-TLS (Remote Attestation TLS)**.</a:t>
            </a:r>
            <a:br>
              <a:rPr sz="1200"/>
            </a:br>
            <a:br>
              <a:rPr sz="1200"/>
            </a:br>
            <a:r>
              <a:rPr b="0" lang="en-US" sz="1200" spc="-1" strike="noStrike">
                <a:solidFill>
                  <a:srgbClr val="0f172a"/>
                </a:solidFill>
                <a:latin typeface="Arial"/>
              </a:rPr>
              <a:t>• Áp dụng Mã Hóa Đồng Cấu (HE):</a:t>
            </a:r>
            <a:br>
              <a:rPr sz="1200"/>
            </a:br>
            <a:r>
              <a:rPr b="0" lang="en-US" sz="1200" spc="-1" strike="noStrike">
                <a:solidFill>
                  <a:srgbClr val="0f172a"/>
                </a:solidFill>
                <a:latin typeface="Arial"/>
              </a:rPr>
              <a:t>  Nghiên cứu áp dụng thuật toán **mã hóa đồng cấu Paillier** cho cơ chế Fallback. Máy chủ host có thể thực hiện phép tính tổng trực tiếp trên bản mã mà không cần giải mã dữ liệu hay giữ khóa giải mã trên RAM host.</a:t>
            </a:r>
            <a:br>
              <a:rPr sz="1200"/>
            </a:br>
            <a:br>
              <a:rPr sz="1200"/>
            </a:br>
            <a:r>
              <a:rPr b="0" lang="en-US" sz="1200" spc="-1" strike="noStrike">
                <a:solidFill>
                  <a:srgbClr val="0f172a"/>
                </a:solidFill>
                <a:latin typeface="Arial"/>
              </a:rPr>
              <a:t>• Che giấu access pattern:</a:t>
            </a:r>
            <a:br>
              <a:rPr sz="1200"/>
            </a:br>
            <a:r>
              <a:rPr b="0" lang="en-US" sz="1200" spc="-1" strike="noStrike">
                <a:solidFill>
                  <a:srgbClr val="0f172a"/>
                </a:solidFill>
                <a:latin typeface="Arial"/>
              </a:rPr>
              <a:t>  Tích hợp ORAM (Oblivious RAM) và chèn dữ liệu nhiễu để nâng cao độ bảo mật cho ORE và SSE.</a:t>
            </a:r>
            <a:endParaRPr b="0" lang="en-US" sz="1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172a"/>
        </a:solidFill>
      </p:bgPr>
    </p:bg>
    <p:spTree>
      <p:nvGrpSpPr>
        <p:cNvPr id="1" name=""/>
        <p:cNvGrpSpPr/>
        <p:nvPr/>
      </p:nvGrpSpPr>
      <p:grpSpPr>
        <a:xfrm>
          <a:off x="0" y="0"/>
          <a:ext cx="0" cy="0"/>
          <a:chOff x="0" y="0"/>
          <a:chExt cx="0" cy="0"/>
        </a:xfrm>
      </p:grpSpPr>
      <p:sp>
        <p:nvSpPr>
          <p:cNvPr id="121" name="TextBox 1"/>
          <p:cNvSpPr/>
          <p:nvPr/>
        </p:nvSpPr>
        <p:spPr>
          <a:xfrm>
            <a:off x="914400" y="1828800"/>
            <a:ext cx="10359720" cy="3185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spcAft>
                <a:spcPts val="1001"/>
              </a:spcAft>
            </a:pPr>
            <a:r>
              <a:rPr b="0" lang="en-US" sz="5400" spc="-1" strike="noStrike">
                <a:solidFill>
                  <a:schemeClr val="dk1"/>
                </a:solidFill>
                <a:latin typeface="Calibri"/>
              </a:rPr>
              <a:t>💡</a:t>
            </a:r>
            <a:endParaRPr b="0" lang="en-US" sz="5400" spc="-1" strike="noStrike">
              <a:solidFill>
                <a:srgbClr val="ffffff"/>
              </a:solidFill>
              <a:latin typeface="Arial"/>
            </a:endParaRPr>
          </a:p>
          <a:p>
            <a:pPr algn="ctr" defTabSz="457200">
              <a:lnSpc>
                <a:spcPct val="100000"/>
              </a:lnSpc>
              <a:spcAft>
                <a:spcPts val="1001"/>
              </a:spcAft>
            </a:pPr>
            <a:r>
              <a:rPr b="1" lang="en-US" sz="4400" spc="-1" strike="noStrike">
                <a:solidFill>
                  <a:srgbClr val="f8fafc"/>
                </a:solidFill>
                <a:latin typeface="Segoe UI"/>
              </a:rPr>
              <a:t>Xin Cảm Ơn Hội Đồng Đã Lắng Nghe!</a:t>
            </a:r>
            <a:endParaRPr b="0" lang="en-US" sz="4400" spc="-1" strike="noStrike">
              <a:solidFill>
                <a:srgbClr val="ffffff"/>
              </a:solidFill>
              <a:latin typeface="Arial"/>
            </a:endParaRPr>
          </a:p>
          <a:p>
            <a:pPr algn="ctr" defTabSz="457200">
              <a:lnSpc>
                <a:spcPct val="100000"/>
              </a:lnSpc>
              <a:spcAft>
                <a:spcPts val="1500"/>
              </a:spcAft>
            </a:pPr>
            <a:r>
              <a:rPr b="0" lang="en-US" sz="1800" spc="-1" strike="noStrike">
                <a:solidFill>
                  <a:srgbClr val="06b6d4"/>
                </a:solidFill>
                <a:latin typeface="Segoe UI"/>
              </a:rPr>
              <a:t>Enc²Health — Giải pháp bảo vệ dữ liệu y tế lai tự thích nghi trên Cloud-Native DBMS</a:t>
            </a:r>
            <a:endParaRPr b="0" lang="en-US" sz="1800" spc="-1" strike="noStrike">
              <a:solidFill>
                <a:srgbClr val="ffffff"/>
              </a:solidFill>
              <a:latin typeface="Arial"/>
            </a:endParaRPr>
          </a:p>
          <a:p>
            <a:pPr algn="ctr" defTabSz="457200">
              <a:lnSpc>
                <a:spcPct val="100000"/>
              </a:lnSpc>
            </a:pPr>
            <a:r>
              <a:rPr b="1" lang="en-US" sz="1400" spc="-1" strike="noStrike">
                <a:solidFill>
                  <a:srgbClr val="10b981"/>
                </a:solidFill>
                <a:latin typeface="Segoe UI"/>
              </a:rPr>
              <a:t>Q&amp;A — RẤT MONG NHẬN ĐƯỢC CÂU HỎI VÀ ĐÓNG GÓP TỪ CÁC THẦY CÔ</a:t>
            </a:r>
            <a:endParaRPr b="0" lang="en-US" sz="14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
  <dcterms:modified xsi:type="dcterms:W3CDTF">2026-06-02T15:23:40Z</dcterms:modified>
  <cp:revision>2</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